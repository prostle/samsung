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8" r:id="rId18"/>
    <p:sldId id="262" r:id="rId11"/>
    <p:sldId id="263" r:id="rId12"/>
    <p:sldId id="264"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7" Type="http://customschemas.google.com/relationships/presentationmetadata" Target="metadata"/><Relationship Id="rId18"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v>
                </c:pt>
              </c:strCache>
            </c:strRef>
          </c:tx>
          <c:dPt>
            <c:idx val="0"/>
            <c:spPr>
              <a:solidFill>
                <a:srgbClr val="6D28D9"/>
              </a:solidFill>
            </c:spPr>
          </c:dPt>
          <c:dPt>
            <c:idx val="1"/>
            <c:spPr>
              <a:solidFill>
                <a:srgbClr val="D9D3F0"/>
              </a:solidFill>
            </c:spPr>
          </c:dPt>
          <c:dPt>
            <c:idx val="2"/>
            <c:spPr>
              <a:solidFill>
                <a:srgbClr val="D9D3F0"/>
              </a:solidFill>
            </c:spPr>
          </c:dPt>
          <c:dPt>
            <c:idx val="3"/>
            <c:spPr>
              <a:solidFill>
                <a:srgbClr val="6D28D9"/>
              </a:solidFill>
            </c:spPr>
          </c:dPt>
          <c:dPt>
            <c:idx val="4"/>
            <c:spPr>
              <a:solidFill>
                <a:srgbClr val="D9D3F0"/>
              </a:solidFill>
            </c:spPr>
          </c:dPt>
          <c:dPt>
            <c:idx val="5"/>
            <c:spPr>
              <a:solidFill>
                <a:srgbClr val="D9D3F0"/>
              </a:solidFill>
            </c:spPr>
          </c:dPt>
          <c:cat>
            <c:strRef>
              <c:f>Sheet1!$A$2:$A$7</c:f>
              <c:strCache>
                <c:ptCount val="6"/>
                <c:pt idx="0">
                  <c:v>Cascaded (Whisper → GPT-4o)</c:v>
                </c:pt>
                <c:pt idx="1">
                  <c:v>Grok</c:v>
                </c:pt>
                <c:pt idx="2">
                  <c:v>Ultravox</c:v>
                </c:pt>
                <c:pt idx="3">
                  <c:v>Gemini Live 3.1</c:v>
                </c:pt>
                <c:pt idx="4">
                  <c:v>Gemini Live 2.5</c:v>
                </c:pt>
                <c:pt idx="5">
                  <c:v>GPT-Realtime</c:v>
                </c:pt>
              </c:strCache>
            </c:strRef>
          </c:cat>
          <c:val>
            <c:numRef>
              <c:f>Sheet1!$B$2:$B$7</c:f>
              <c:numCache>
                <c:formatCode>General</c:formatCode>
                <c:ptCount val="6"/>
                <c:pt idx="0">
                  <c:v>0.176</c:v>
                </c:pt>
                <c:pt idx="1">
                  <c:v>0.294</c:v>
                </c:pt>
                <c:pt idx="2">
                  <c:v>0.353</c:v>
                </c:pt>
                <c:pt idx="3">
                  <c:v>0.353</c:v>
                </c:pt>
                <c:pt idx="4">
                  <c:v>0.471</c:v>
                </c:pt>
                <c:pt idx="5">
                  <c:v>0.588</c:v>
                </c:pt>
              </c:numCache>
            </c:numRef>
          </c:val>
        </c:ser>
        <c:dLbls>
          <c:numFmt formatCode="0%" sourceLinked="0"/>
          <c:txPr>
            <a:bodyPr/>
            <a:lstStyle/>
            <a:p>
              <a:pPr>
                <a:defRPr sz="1200" b="1">
                  <a:solidFill>
                    <a:srgbClr val="14142B"/>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D9D3F0"/>
            </a:solidFill>
          </a:ln>
        </c:spPr>
        <c:txPr>
          <a:bodyPr/>
          <a:lstStyle/>
          <a:p>
            <a:pPr>
              <a:defRPr sz="1200">
                <a:solidFill>
                  <a:srgbClr val="14142B"/>
                </a:solidFill>
              </a:defRPr>
            </a:pPr>
          </a:p>
        </c:txPr>
        <c:crossAx val="-2113994440"/>
        <c:crosses val="autoZero"/>
        <c:auto val="1"/>
        <c:lblAlgn val="ctr"/>
        <c:lblOffset val="100"/>
        <c:noMultiLvlLbl val="0"/>
      </c:catAx>
      <c:valAx>
        <c:axId val="-2113994440"/>
        <c:scaling>
          <c:max val="0.8"/>
          <c:min val="0.0"/>
        </c:scaling>
        <c:delete/>
        <c:axPos val="b"/>
        <c:majorTickMark val="out"/>
        <c:minorTickMark val="none"/>
        <c:tickLblPos val="nextTo"/>
        <c:crossAx val="-2068027336"/>
        <c:crosses val="autoZero"/>
      </c:valAx>
    </c:plotArea>
    <c:dispBlanksAs val="gap"/>
  </c:chart>
  <c:txPr>
    <a:bodyPr/>
    <a:lstStyle/>
    <a:p>
      <a:pPr>
        <a:defRPr sz="1200">
          <a:solidFill>
            <a:srgbClr val="63637E"/>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Paper: Gemini Live 3.1</c:v>
                </c:pt>
              </c:strCache>
            </c:strRef>
          </c:tx>
          <c:spPr>
            <a:solidFill>
              <a:srgbClr val="D9D3F0"/>
            </a:solidFill>
          </c:spPr>
          <c:cat>
            <c:strRef>
              <c:f>Sheet1!$A$2:$A$3</c:f>
              <c:strCache>
                <c:ptCount val="2"/>
                <c:pt idx="0">
                  <c:v>Turns answered</c:v>
                </c:pt>
                <c:pt idx="1">
                  <c:v>Talks over the user</c:v>
                </c:pt>
              </c:strCache>
            </c:strRef>
          </c:cat>
          <c:val>
            <c:numRef>
              <c:f>Sheet1!$B$2:$B$3</c:f>
              <c:numCache>
                <c:formatCode>General</c:formatCode>
                <c:ptCount val="2"/>
                <c:pt idx="0">
                  <c:v>0.78</c:v>
                </c:pt>
                <c:pt idx="1">
                  <c:v>0.192</c:v>
                </c:pt>
              </c:numCache>
            </c:numRef>
          </c:val>
        </c:ser>
        <c:ser>
          <c:idx val="1"/>
          <c:order val="1"/>
          <c:tx>
            <c:strRef>
              <c:f>Sheet1!$C$1</c:f>
              <c:strCache>
                <c:ptCount val="1"/>
                <c:pt idx="0">
                  <c:v>Keel on Gemini Live 3.1</c:v>
                </c:pt>
              </c:strCache>
            </c:strRef>
          </c:tx>
          <c:spPr>
            <a:solidFill>
              <a:srgbClr val="6D28D9"/>
            </a:solidFill>
          </c:spPr>
          <c:cat>
            <c:strRef>
              <c:f>Sheet1!$A$2:$A$3</c:f>
              <c:strCache>
                <c:ptCount val="2"/>
                <c:pt idx="0">
                  <c:v>Turns answered</c:v>
                </c:pt>
                <c:pt idx="1">
                  <c:v>Talks over the user</c:v>
                </c:pt>
              </c:strCache>
            </c:strRef>
          </c:cat>
          <c:val>
            <c:numRef>
              <c:f>Sheet1!$C$2:$C$3</c:f>
              <c:numCache>
                <c:formatCode>General</c:formatCode>
                <c:ptCount val="2"/>
                <c:pt idx="0">
                  <c:v>1.0</c:v>
                </c:pt>
                <c:pt idx="1">
                  <c:v>0.05</c:v>
                </c:pt>
              </c:numCache>
            </c:numRef>
          </c:val>
        </c:ser>
        <c:dLbls>
          <c:numFmt formatCode="0%" sourceLinked="0"/>
          <c:txPr>
            <a:bodyPr/>
            <a:lstStyle/>
            <a:p>
              <a:pPr>
                <a:defRPr sz="1100" b="1">
                  <a:solidFill>
                    <a:srgbClr val="14142B"/>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D9D3F0"/>
            </a:solidFill>
          </a:ln>
        </c:spPr>
        <c:txPr>
          <a:bodyPr/>
          <a:lstStyle/>
          <a:p>
            <a:pPr>
              <a:defRPr>
                <a:solidFill>
                  <a:srgbClr val="14142B"/>
                </a:solidFill>
              </a:defRPr>
            </a:pPr>
          </a:p>
        </c:txPr>
        <c:crossAx val="-2113994440"/>
        <c:crosses val="autoZero"/>
        <c:auto val="1"/>
        <c:lblAlgn val="ctr"/>
        <c:lblOffset val="100"/>
        <c:noMultiLvlLbl val="0"/>
      </c:catAx>
      <c:valAx>
        <c:axId val="-2113994440"/>
        <c:scaling>
          <c:max val="1.15"/>
          <c:min val="0.0"/>
        </c:scaling>
        <c:delete/>
        <c:axPos val="l"/>
        <c:majorTickMark val="out"/>
        <c:minorTickMark val="none"/>
        <c:tickLblPos val="nextTo"/>
        <c:crossAx val="-2068027336"/>
        <c:crosses val="autoZero"/>
      </c:valAx>
    </c:plotArea>
    <c:legend>
      <c:legendPos val="b"/>
      <c:overlay val="0"/>
    </c:legend>
    <c:dispBlanksAs val="gap"/>
  </c:chart>
  <c:txPr>
    <a:bodyPr/>
    <a:lstStyle/>
    <a:p>
      <a:pPr>
        <a:defRPr sz="1050">
          <a:solidFill>
            <a:srgbClr val="63637E"/>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First run</c:v>
                </c:pt>
              </c:strCache>
            </c:strRef>
          </c:tx>
          <c:spPr>
            <a:solidFill>
              <a:srgbClr val="D9D3F0"/>
            </a:solidFill>
          </c:spPr>
          <c:cat>
            <c:strRef>
              <c:f>Sheet1!$A$2:$A$4</c:f>
              <c:strCache>
                <c:ptCount val="3"/>
                <c:pt idx="0">
                  <c:v>Strict pass</c:v>
                </c:pt>
                <c:pt idx="1">
                  <c:v>By meaning</c:v>
                </c:pt>
                <c:pt idx="2">
                  <c:v>Turns answered</c:v>
                </c:pt>
              </c:strCache>
            </c:strRef>
          </c:cat>
          <c:val>
            <c:numRef>
              <c:f>Sheet1!$B$2:$B$4</c:f>
              <c:numCache>
                <c:formatCode>General</c:formatCode>
                <c:ptCount val="3"/>
                <c:pt idx="0">
                  <c:v>0.43</c:v>
                </c:pt>
                <c:pt idx="1">
                  <c:v>0.63</c:v>
                </c:pt>
                <c:pt idx="2">
                  <c:v>0.84</c:v>
                </c:pt>
              </c:numCache>
            </c:numRef>
          </c:val>
        </c:ser>
        <c:ser>
          <c:idx val="1"/>
          <c:order val="1"/>
          <c:tx>
            <c:strRef>
              <c:f>Sheet1!$C$1</c:f>
              <c:strCache>
                <c:ptCount val="1"/>
                <c:pt idx="0">
                  <c:v>Latest run</c:v>
                </c:pt>
              </c:strCache>
            </c:strRef>
          </c:tx>
          <c:spPr>
            <a:solidFill>
              <a:srgbClr val="6D28D9"/>
            </a:solidFill>
          </c:spPr>
          <c:cat>
            <c:strRef>
              <c:f>Sheet1!$A$2:$A$4</c:f>
              <c:strCache>
                <c:ptCount val="3"/>
                <c:pt idx="0">
                  <c:v>Strict pass</c:v>
                </c:pt>
                <c:pt idx="1">
                  <c:v>By meaning</c:v>
                </c:pt>
                <c:pt idx="2">
                  <c:v>Turns answered</c:v>
                </c:pt>
              </c:strCache>
            </c:strRef>
          </c:cat>
          <c:val>
            <c:numRef>
              <c:f>Sheet1!$C$2:$C$4</c:f>
              <c:numCache>
                <c:formatCode>General</c:formatCode>
                <c:ptCount val="3"/>
                <c:pt idx="0">
                  <c:v>0.48</c:v>
                </c:pt>
                <c:pt idx="1">
                  <c:v>0.66</c:v>
                </c:pt>
                <c:pt idx="2">
                  <c:v>1.0</c:v>
                </c:pt>
              </c:numCache>
            </c:numRef>
          </c:val>
        </c:ser>
        <c:dLbls>
          <c:numFmt formatCode="0%" sourceLinked="0"/>
          <c:txPr>
            <a:bodyPr/>
            <a:lstStyle/>
            <a:p>
              <a:pPr>
                <a:defRPr sz="1100" b="1">
                  <a:solidFill>
                    <a:srgbClr val="14142B"/>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D9D3F0"/>
            </a:solidFill>
          </a:ln>
        </c:spPr>
        <c:txPr>
          <a:bodyPr/>
          <a:lstStyle/>
          <a:p>
            <a:pPr>
              <a:defRPr>
                <a:solidFill>
                  <a:srgbClr val="14142B"/>
                </a:solidFill>
              </a:defRPr>
            </a:pPr>
          </a:p>
        </c:txPr>
        <c:crossAx val="-2113994440"/>
        <c:crosses val="autoZero"/>
        <c:auto val="1"/>
        <c:lblAlgn val="ctr"/>
        <c:lblOffset val="100"/>
        <c:noMultiLvlLbl val="0"/>
      </c:catAx>
      <c:valAx>
        <c:axId val="-2113994440"/>
        <c:scaling>
          <c:max val="1.15"/>
          <c:min val="0.0"/>
        </c:scaling>
        <c:delete/>
        <c:axPos val="l"/>
        <c:majorTickMark val="out"/>
        <c:minorTickMark val="none"/>
        <c:tickLblPos val="nextTo"/>
        <c:crossAx val="-2068027336"/>
        <c:crosses val="autoZero"/>
      </c:valAx>
    </c:plotArea>
    <c:legend>
      <c:legendPos val="b"/>
      <c:overlay val="0"/>
    </c:legend>
    <c:dispBlanksAs val="gap"/>
  </c:chart>
  <c:txPr>
    <a:bodyPr/>
    <a:lstStyle/>
    <a:p>
      <a:pPr>
        <a:defRPr sz="1050">
          <a:solidFill>
            <a:srgbClr val="63637E"/>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Team name, college and member e-mails are left for the team to fill in.</a:t>
            </a: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Quote: FDB-v3 recording travel_10 (as transcribed in our run). The three capabilities are from the Theme 05 participant guide, section 1. Picture: AI-generated illustration (Juggernaut XL via AI Horde).</a:t>
            </a: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FDB-v3 paper (arXiv 2604.04847): Table 3 self-correction Pass@1; Table 2 best overall Pass@1 0.600 (GPT-Realtime); quotes on Whisper finalising early and Gemini Live's -2.27 s tool call. Frameworks: Pipecat function-calling guide (cancel_on_interruption) and LiveKit tool docs (disallow_interruptions), see SOURCES.md.</a:t>
            </a: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Keel's four rules: README.md 'An interruption-safe execution layer'. Real example: benchmark recording travel_10, Gemini Live run 20260927T083931Z (both October 5th searches dropped before they were sent; October 7th sent once at 0:22).</a:t>
            </a: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Live session keel-live-a473a90e (gemini_realtime): read_error_display -&gt; code 5E (displayed as SE); book_technician Saturday morning once; list_technician_bookings answered 'did it go through?'. Samsung code table from samsung.com/sg (SOURCES.md). The in-car and support-line examples are the theme guide's own. Washer picture: AI-generated illustration.</a:t>
            </a:r>
          </a:p>
        </p:txBody>
      </p:sp>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Numbers are read from the run folders by the deck builder. This run: results/fdb_v3/20260928T211335Z_keel_gemini_realtime. Previous: results/fdb_v3/20260927T083931Z_keel_gemini_realtime. 'Compared by meaning' is eval/form_equivalence.py on the strict report (same date written differently, equal numbers, case, punctuation, plural s), an estimate and not a score. Paper Table 2: Gemini Live 3.1 take-turn 78.0%, interrupt 19.2%.</a:t>
            </a:r>
          </a:p>
        </p:txBody>
      </p:sp>
      <p:sp>
        <p:nvSpPr>
          <p:cNvPr id="135" name="Google Shape;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Latency: FDB-v3 latency report, first response mean 6.665 s; paper Table 6 Gemini Live 3.1 first word 3.95 s; Keel hold median 593 ms. Argument formats: docs/reports/UI_AND_FREE_MODELS_2026-09-27.md 5b; the paper says its judge accommodates date formats (section 4.1). Silent turns: same report; paper: 22 scenarios without response. Open items: section 6 of the same report. Picture: AI-generated illustration.</a:t>
            </a:r>
          </a:p>
        </p:txBody>
      </p:sp>
      <p:sp>
        <p:nvSpPr>
          <p:cNvPr id="141" name="Google Shape;1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README.md Architecture and 'Pipelines'; docs/ARCHITECTURE.md (LiveKit events -&gt; KeelGate -&gt; kernel). Listening = LiveKit's voice activity detection and end-of-turn model where the pipeline uses them. Models per set-up are on the tech stack slide.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3"/>
          <p:cNvSpPr/>
          <p:nvPr>
            <p:ph idx="2" type="pic"/>
          </p:nvPr>
        </p:nvSpPr>
        <p:spPr>
          <a:xfrm>
            <a:off x="5183188" y="987425"/>
            <a:ext cx="6172200" cy="4873625"/>
          </a:xfrm>
          <a:prstGeom prst="rect">
            <a:avLst/>
          </a:prstGeom>
          <a:noFill/>
          <a:ln>
            <a:noFill/>
          </a:ln>
        </p:spPr>
      </p:sp>
      <p:sp>
        <p:nvSpPr>
          <p:cNvPr id="69" name="Google Shape;69;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hart" Target="../charts/chart1.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slide" Target="slide2.xml"/><Relationship Id="rId8" Type="http://schemas.openxmlformats.org/officeDocument/2006/relationships/slide" Target="slide4.xml"/><Relationship Id="rId9" Type="http://schemas.openxmlformats.org/officeDocument/2006/relationships/slide" Target="slide5.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slide" Target="slide2.xml"/><Relationship Id="rId9" Type="http://schemas.openxmlformats.org/officeDocument/2006/relationships/slide" Target="slide3.xml"/><Relationship Id="rId10" Type="http://schemas.openxmlformats.org/officeDocument/2006/relationships/slide" Target="slide5.xml"/><Relationship Id="rId13" Type="http://schemas.openxmlformats.org/officeDocument/2006/relationships/slide" Target="slide8.xml"/><Relationship Id="rId14" Type="http://schemas.openxmlformats.org/officeDocument/2006/relationships/slide" Target="slide9.xml"/><Relationship Id="rId15" Type="http://schemas.openxmlformats.org/officeDocument/2006/relationships/slide" Target="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png"/><Relationship Id="rId14" Type="http://schemas.openxmlformats.org/officeDocument/2006/relationships/notesSlide" Target="../notesSlides/notesSlide13.xml"/><Relationship Id="rId15" Type="http://schemas.openxmlformats.org/officeDocument/2006/relationships/slide" Target="slide2.xml"/><Relationship Id="rId16" Type="http://schemas.openxmlformats.org/officeDocument/2006/relationships/slide" Target="slide3.xml"/><Relationship Id="rId17" Type="http://schemas.openxmlformats.org/officeDocument/2006/relationships/slide" Target="slide4.xml"/><Relationship Id="rId20" Type="http://schemas.openxmlformats.org/officeDocument/2006/relationships/slide" Target="slide8.xml"/><Relationship Id="rId21" Type="http://schemas.openxmlformats.org/officeDocument/2006/relationships/slide" Target="slide9.xml"/><Relationship Id="rId22" Type="http://schemas.openxmlformats.org/officeDocument/2006/relationships/slide" Target="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27.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12.png"/><Relationship Id="rId11" Type="http://schemas.openxmlformats.org/officeDocument/2006/relationships/image" Target="../media/image34.png"/><Relationship Id="rId12" Type="http://schemas.openxmlformats.org/officeDocument/2006/relationships/image" Target="../media/image4.png"/><Relationship Id="rId13" Type="http://schemas.openxmlformats.org/officeDocument/2006/relationships/slide" Target="slide2.xml"/><Relationship Id="rId14" Type="http://schemas.openxmlformats.org/officeDocument/2006/relationships/slide" Target="slide3.xml"/><Relationship Id="rId15" Type="http://schemas.openxmlformats.org/officeDocument/2006/relationships/slide" Target="slide4.xml"/><Relationship Id="rId16" Type="http://schemas.openxmlformats.org/officeDocument/2006/relationships/slide" Target="slide5.xml"/><Relationship Id="rId19" Type="http://schemas.openxmlformats.org/officeDocument/2006/relationships/slide" Target="slide9.xml"/><Relationship Id="rId20" Type="http://schemas.openxmlformats.org/officeDocument/2006/relationships/slide" Target="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slide" Target="slide10.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2" Type="http://schemas.openxmlformats.org/officeDocument/2006/relationships/slide" Target="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30.png"/><Relationship Id="rId5" Type="http://schemas.openxmlformats.org/officeDocument/2006/relationships/image" Target="../media/image35.png"/><Relationship Id="rId6" Type="http://schemas.openxmlformats.org/officeDocument/2006/relationships/image" Target="../media/image5.png"/><Relationship Id="rId7" Type="http://schemas.openxmlformats.org/officeDocument/2006/relationships/image" Target="../media/image36.png"/><Relationship Id="rId8" Type="http://schemas.openxmlformats.org/officeDocument/2006/relationships/image" Target="../media/image23.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slide" Target="slide2.xml"/><Relationship Id="rId13" Type="http://schemas.openxmlformats.org/officeDocument/2006/relationships/slide" Target="slide3.xml"/><Relationship Id="rId14" Type="http://schemas.openxmlformats.org/officeDocument/2006/relationships/slide" Target="slide4.xml"/><Relationship Id="rId15" Type="http://schemas.openxmlformats.org/officeDocument/2006/relationships/slide" Target="slide5.xml"/><Relationship Id="rId18" Type="http://schemas.openxmlformats.org/officeDocument/2006/relationships/slide" Target="slide8.xml"/><Relationship Id="rId19" Type="http://schemas.openxmlformats.org/officeDocument/2006/relationships/slide" Target="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fmla="val 50000" name="adj"/>
            </a:avLst>
          </a:prstGeom>
          <a:solidFill>
            <a:srgbClr val="FFFFFF"/>
          </a:solidFill>
          <a:ln cap="flat" cmpd="sng" w="12700">
            <a:solidFill>
              <a:srgbClr val="D9D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777240" y="676656"/>
            <a:ext cx="2423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8D9"/>
              </a:buClr>
              <a:buSzPts val="1100"/>
              <a:buFont typeface="Arial"/>
              <a:buNone/>
            </a:pPr>
            <a:r>
              <a:rPr b="1" i="0" lang="en-US" sz="1100" u="none" cap="none" strike="noStrike">
                <a:solidFill>
                  <a:srgbClr val="6D28D9"/>
                </a:solidFill>
                <a:latin typeface="Arial"/>
                <a:ea typeface="Arial"/>
                <a:cs typeface="Arial"/>
                <a:sym typeface="Arial"/>
              </a:rPr>
              <a:t>SAMSUNG PRISM</a:t>
            </a:r>
            <a:endParaRPr b="0" i="0" sz="1100" u="none" cap="none" strike="noStrik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5000"/>
              <a:buFont typeface="Arial"/>
              <a:buNone/>
            </a:pPr>
            <a:r>
              <a:rPr b="1" i="0" lang="en-US" sz="5000" u="none" cap="none" strike="noStrike">
                <a:solidFill>
                  <a:srgbClr val="14142B"/>
                </a:solidFill>
                <a:latin typeface="Arial"/>
                <a:ea typeface="Arial"/>
                <a:cs typeface="Arial"/>
                <a:sym typeface="Arial"/>
              </a:rPr>
              <a:t>Generative AI</a:t>
            </a:r>
            <a:endParaRPr b="0" i="0" sz="5000" u="none" cap="none" strike="noStrik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8D9"/>
              </a:buClr>
              <a:buSzPts val="5000"/>
              <a:buFont typeface="Arial"/>
              <a:buNone/>
            </a:pPr>
            <a:r>
              <a:rPr b="1" i="0" lang="en-US" sz="5000" u="none" cap="none" strike="noStrike">
                <a:solidFill>
                  <a:srgbClr val="6D28D9"/>
                </a:solidFill>
                <a:latin typeface="Arial"/>
                <a:ea typeface="Arial"/>
                <a:cs typeface="Arial"/>
                <a:sym typeface="Arial"/>
              </a:rPr>
              <a:t>Hackathon</a:t>
            </a:r>
            <a:endParaRPr b="0" i="0" sz="5000" u="none" cap="none" strike="noStrik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2500"/>
              <a:buFont typeface="Arial"/>
              <a:buNone/>
            </a:pPr>
            <a:r>
              <a:rPr b="1" i="0" lang="en-US" sz="2500" u="none" cap="none" strike="noStrike">
                <a:solidFill>
                  <a:srgbClr val="14142B"/>
                </a:solidFill>
                <a:latin typeface="Arial"/>
                <a:ea typeface="Arial"/>
                <a:cs typeface="Arial"/>
                <a:sym typeface="Arial"/>
              </a:rPr>
              <a:t>3rd Edition</a:t>
            </a:r>
            <a:r>
              <a:rPr b="0" i="0" lang="en-US" sz="2000" u="none" cap="none" strike="noStrike">
                <a:solidFill>
                  <a:srgbClr val="63637E"/>
                </a:solidFill>
                <a:latin typeface="Calibri"/>
                <a:ea typeface="Calibri"/>
                <a:cs typeface="Calibri"/>
                <a:sym typeface="Calibri"/>
              </a:rPr>
              <a:t>   2026 – 27</a:t>
            </a:r>
            <a:endParaRPr b="0" i="0" sz="2500" u="none" cap="none" strike="noStrike">
              <a:solidFill>
                <a:schemeClr val="dk1"/>
              </a:solidFill>
              <a:latin typeface="Calibri"/>
              <a:ea typeface="Calibri"/>
              <a:cs typeface="Calibri"/>
              <a:sym typeface="Calibri"/>
            </a:endParaRPr>
          </a:p>
        </p:txBody>
      </p:sp>
      <p:sp>
        <p:nvSpPr>
          <p:cNvPr id="95" name="Google Shape;95;p1"/>
          <p:cNvSpPr txBox="1"/>
          <p:nvPr/>
        </p:nvSpPr>
        <p:spPr>
          <a:xfrm>
            <a:off x="777240" y="3310128"/>
            <a:ext cx="5852160" cy="7772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Project - Keel: voice assistants that act only when you've finished</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Theme ID - Theme 05: Interruptible Real-Time Agents</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Team Name -</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College Name -</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1- Harshit Aryan</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2-</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3- </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4-</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Submission Github link - github.com/PROSTLE/samsung</a:t>
            </a:r>
            <a:endParaRPr/>
          </a:p>
          <a:p>
            <a:pPr indent="-76200" lvl="0" marL="177800" marR="0" rtl="0" algn="l">
              <a:spcBef>
                <a:spcPts val="500"/>
              </a:spcBef>
              <a:spcAft>
                <a:spcPts val="0"/>
              </a:spcAft>
              <a:buClr>
                <a:schemeClr val="dk1"/>
              </a:buClr>
              <a:buSzPts val="1600"/>
              <a:buFont typeface="Calibri"/>
              <a:buNone/>
            </a:pPr>
            <a:r>
              <a:t/>
            </a:r>
            <a:endParaRPr b="0" i="0" sz="1600" u="none" cap="none" strike="noStrike">
              <a:solidFill>
                <a:srgbClr val="63637E"/>
              </a:solidFill>
              <a:latin typeface="Calibri"/>
              <a:ea typeface="Calibri"/>
              <a:cs typeface="Calibri"/>
              <a:sym typeface="Calibri"/>
            </a:endParaRPr>
          </a:p>
        </p:txBody>
      </p:sp>
      <p:pic>
        <p:nvPicPr>
          <p:cNvPr descr="hero_network.png" id="96" name="Google Shape;96;p1"/>
          <p:cNvPicPr preferRelativeResize="0"/>
          <p:nvPr/>
        </p:nvPicPr>
        <p:blipFill rotWithShape="1">
          <a:blip r:embed="rId3">
            <a:alphaModFix/>
          </a:blip>
          <a:srcRect b="0" l="0" r="0" t="0"/>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600" i="0">
                <a:solidFill>
                  <a:srgbClr val="704EA6"/>
                </a:solidFill>
                <a:latin typeface="Calibri"/>
                <a:ea typeface="Calibri"/>
                <a:cs typeface="Calibri"/>
                <a:sym typeface="Calibri"/>
              </a:rPr>
              <a:t>Theme</a:t>
            </a:r>
            <a:endParaRPr/>
          </a:p>
        </p:txBody>
      </p:sp>
      <p:pic>
        <p:nvPicPr>
          <p:cNvPr id="102" name="Picture 101" descr="car.png"/>
          <p:cNvPicPr>
            <a:picLocks noChangeAspect="1"/>
          </p:cNvPicPr>
          <p:nvPr/>
        </p:nvPicPr>
        <p:blipFill>
          <a:blip r:embed="rId3"/>
          <a:srcRect t="97" b="97"/>
          <a:stretch>
            <a:fillRect/>
          </a:stretch>
        </p:blipFill>
        <p:spPr>
          <a:xfrm>
            <a:off x="822960" y="1280160"/>
            <a:ext cx="5212080" cy="2926080"/>
          </a:xfrm>
          <a:prstGeom prst="roundRect">
            <a:avLst>
              <a:gd name="adj" fmla="val 4000"/>
            </a:avLst>
          </a:prstGeom>
          <a:ln w="12700">
            <a:solidFill>
              <a:srgbClr val="D9D3F0"/>
            </a:solidFill>
          </a:ln>
        </p:spPr>
      </p:pic>
      <p:sp>
        <p:nvSpPr>
          <p:cNvPr id="103" name="TextBox 102"/>
          <p:cNvSpPr txBox="1"/>
          <p:nvPr/>
        </p:nvSpPr>
        <p:spPr>
          <a:xfrm>
            <a:off x="822960" y="4233672"/>
            <a:ext cx="5212080" cy="182880"/>
          </a:xfrm>
          <a:prstGeom prst="rect">
            <a:avLst/>
          </a:prstGeom>
          <a:noFill/>
        </p:spPr>
        <p:txBody>
          <a:bodyPr wrap="square" anchor="t" lIns="0" rIns="0" tIns="0" bIns="0"/>
          <a:lstStyle/>
          <a:p>
            <a:pPr algn="r"/>
            <a:r>
              <a:rPr sz="850" b="0" i="1">
                <a:solidFill>
                  <a:srgbClr val="9A9AB0"/>
                </a:solidFill>
                <a:latin typeface="Calibri"/>
              </a:rPr>
              <a:t>Illustration, AI-generated</a:t>
            </a:r>
          </a:p>
        </p:txBody>
      </p:sp>
      <p:sp>
        <p:nvSpPr>
          <p:cNvPr id="104" name="Rounded Rectangle 103"/>
          <p:cNvSpPr/>
          <p:nvPr/>
        </p:nvSpPr>
        <p:spPr>
          <a:xfrm>
            <a:off x="822960" y="4526280"/>
            <a:ext cx="5212080" cy="1481328"/>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51560" y="4645152"/>
            <a:ext cx="4800600" cy="1600200"/>
          </a:xfrm>
          <a:prstGeom prst="rect">
            <a:avLst/>
          </a:prstGeom>
          <a:noFill/>
        </p:spPr>
        <p:txBody>
          <a:bodyPr wrap="square" anchor="t" lIns="0" rIns="0" tIns="0" bIns="0"/>
          <a:lstStyle/>
          <a:p>
            <a:pPr algn="l">
              <a:spcAft>
                <a:spcPts val="600"/>
              </a:spcAft>
            </a:pPr>
            <a:r>
              <a:rPr sz="1400" b="0" i="1">
                <a:solidFill>
                  <a:srgbClr val="14142B"/>
                </a:solidFill>
                <a:latin typeface="Calibri"/>
              </a:rPr>
              <a:t>“Looking at flights to Miami on October 5th. Oh, wait. My schedule just changed… so actually make it October 7th instead.”</a:t>
            </a:r>
          </a:p>
          <a:p>
            <a:pPr algn="l">
              <a:spcAft>
                <a:spcPts val="600"/>
              </a:spcAft>
            </a:pPr>
            <a:r>
              <a:rPr sz="1150" b="0" i="0">
                <a:solidFill>
                  <a:srgbClr val="63637E"/>
                </a:solidFill>
                <a:latin typeface="Calibri"/>
              </a:rPr>
              <a:t>A real caller from the benchmark’s recordings. Many assistants run the October 5th search before the caller has finished, and a search or booking that has already gone out can’t be taken back.</a:t>
            </a:r>
          </a:p>
        </p:txBody>
      </p:sp>
      <p:sp>
        <p:nvSpPr>
          <p:cNvPr id="106" name="TextBox 105"/>
          <p:cNvSpPr txBox="1"/>
          <p:nvPr/>
        </p:nvSpPr>
        <p:spPr>
          <a:xfrm>
            <a:off x="6355080" y="1280160"/>
            <a:ext cx="5029200" cy="868680"/>
          </a:xfrm>
          <a:prstGeom prst="rect">
            <a:avLst/>
          </a:prstGeom>
          <a:noFill/>
        </p:spPr>
        <p:txBody>
          <a:bodyPr wrap="square" anchor="t" lIns="0" rIns="0" tIns="0" bIns="0"/>
          <a:lstStyle/>
          <a:p>
            <a:pPr algn="l"/>
            <a:r>
              <a:rPr sz="2600" b="1" i="0">
                <a:solidFill>
                  <a:srgbClr val="14142B"/>
                </a:solidFill>
                <a:latin typeface="Calibri"/>
              </a:rPr>
              <a:t>People don’t talk in clean sentences.</a:t>
            </a:r>
          </a:p>
        </p:txBody>
      </p:sp>
      <p:sp>
        <p:nvSpPr>
          <p:cNvPr id="107" name="TextBox 106"/>
          <p:cNvSpPr txBox="1"/>
          <p:nvPr/>
        </p:nvSpPr>
        <p:spPr>
          <a:xfrm>
            <a:off x="6355080" y="1874519"/>
            <a:ext cx="5029200" cy="1188720"/>
          </a:xfrm>
          <a:prstGeom prst="rect">
            <a:avLst/>
          </a:prstGeom>
          <a:noFill/>
        </p:spPr>
        <p:txBody>
          <a:bodyPr wrap="square" anchor="t" lIns="0" rIns="0" tIns="0" bIns="0"/>
          <a:lstStyle/>
          <a:p>
            <a:pPr algn="l"/>
            <a:r>
              <a:rPr sz="1400" b="0" i="0">
                <a:solidFill>
                  <a:srgbClr val="63637E"/>
                </a:solidFill>
                <a:latin typeface="Calibri"/>
              </a:rPr>
              <a:t>We pause, say “um”, start again and change our minds halfway through. An assistant that acts on the first thing it hears books the wrong day, searches the wrong city, or does the same thing twice.</a:t>
            </a:r>
          </a:p>
        </p:txBody>
      </p:sp>
      <p:sp>
        <p:nvSpPr>
          <p:cNvPr id="108" name="TextBox 107"/>
          <p:cNvSpPr txBox="1"/>
          <p:nvPr/>
        </p:nvSpPr>
        <p:spPr>
          <a:xfrm>
            <a:off x="6355080" y="3127248"/>
            <a:ext cx="5029200" cy="274320"/>
          </a:xfrm>
          <a:prstGeom prst="rect">
            <a:avLst/>
          </a:prstGeom>
          <a:noFill/>
        </p:spPr>
        <p:txBody>
          <a:bodyPr wrap="square" anchor="t" lIns="0" rIns="0" tIns="0" bIns="0"/>
          <a:lstStyle/>
          <a:p>
            <a:pPr algn="l"/>
            <a:r>
              <a:rPr sz="1300" b="1" i="0">
                <a:solidFill>
                  <a:srgbClr val="6D28D9"/>
                </a:solidFill>
                <a:latin typeface="Calibri"/>
              </a:rPr>
              <a:t>Theme 05 asks for three things</a:t>
            </a:r>
          </a:p>
        </p:txBody>
      </p:sp>
      <p:sp>
        <p:nvSpPr>
          <p:cNvPr id="109" name="Oval 108"/>
          <p:cNvSpPr/>
          <p:nvPr/>
        </p:nvSpPr>
        <p:spPr>
          <a:xfrm>
            <a:off x="6355080" y="3474720"/>
            <a:ext cx="502920" cy="50292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0" name="Picture 109" descr="zap.png"/>
          <p:cNvPicPr>
            <a:picLocks noChangeAspect="1"/>
          </p:cNvPicPr>
          <p:nvPr/>
        </p:nvPicPr>
        <p:blipFill>
          <a:blip r:embed="rId4"/>
          <a:stretch>
            <a:fillRect/>
          </a:stretch>
        </p:blipFill>
        <p:spPr>
          <a:xfrm>
            <a:off x="6455664" y="3575303"/>
            <a:ext cx="301752" cy="301752"/>
          </a:xfrm>
          <a:prstGeom prst="rect">
            <a:avLst/>
          </a:prstGeom>
        </p:spPr>
      </p:pic>
      <p:sp>
        <p:nvSpPr>
          <p:cNvPr id="111" name="TextBox 110"/>
          <p:cNvSpPr txBox="1"/>
          <p:nvPr/>
        </p:nvSpPr>
        <p:spPr>
          <a:xfrm>
            <a:off x="6995160" y="3456432"/>
            <a:ext cx="4389120" cy="594360"/>
          </a:xfrm>
          <a:prstGeom prst="rect">
            <a:avLst/>
          </a:prstGeom>
          <a:noFill/>
        </p:spPr>
        <p:txBody>
          <a:bodyPr wrap="square" anchor="t" lIns="0" rIns="0" tIns="0" bIns="0"/>
          <a:lstStyle/>
          <a:p>
            <a:pPr algn="l"/>
            <a:r>
              <a:rPr sz="1400" b="1" i="0">
                <a:solidFill>
                  <a:srgbClr val="14142B"/>
                </a:solidFill>
                <a:latin typeface="Calibri"/>
              </a:rPr>
              <a:t>Respond quickly</a:t>
            </a:r>
          </a:p>
          <a:p>
            <a:pPr algn="l"/>
            <a:r>
              <a:rPr sz="1200" b="0" i="0">
                <a:solidFill>
                  <a:srgbClr val="63637E"/>
                </a:solidFill>
                <a:latin typeface="Calibri"/>
              </a:rPr>
              <a:t>spoken feedback within a few hundred milliseconds, no dead air</a:t>
            </a:r>
          </a:p>
        </p:txBody>
      </p:sp>
      <p:sp>
        <p:nvSpPr>
          <p:cNvPr id="112" name="Oval 111"/>
          <p:cNvSpPr/>
          <p:nvPr/>
        </p:nvSpPr>
        <p:spPr>
          <a:xfrm>
            <a:off x="6355080" y="4206240"/>
            <a:ext cx="502920" cy="50292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3" name="Picture 112" descr="message-circle.png"/>
          <p:cNvPicPr>
            <a:picLocks noChangeAspect="1"/>
          </p:cNvPicPr>
          <p:nvPr/>
        </p:nvPicPr>
        <p:blipFill>
          <a:blip r:embed="rId5"/>
          <a:stretch>
            <a:fillRect/>
          </a:stretch>
        </p:blipFill>
        <p:spPr>
          <a:xfrm>
            <a:off x="6455664" y="4306824"/>
            <a:ext cx="301752" cy="301752"/>
          </a:xfrm>
          <a:prstGeom prst="rect">
            <a:avLst/>
          </a:prstGeom>
        </p:spPr>
      </p:pic>
      <p:sp>
        <p:nvSpPr>
          <p:cNvPr id="114" name="TextBox 113"/>
          <p:cNvSpPr txBox="1"/>
          <p:nvPr/>
        </p:nvSpPr>
        <p:spPr>
          <a:xfrm>
            <a:off x="6995160" y="4187952"/>
            <a:ext cx="4389120" cy="594360"/>
          </a:xfrm>
          <a:prstGeom prst="rect">
            <a:avLst/>
          </a:prstGeom>
          <a:noFill/>
        </p:spPr>
        <p:txBody>
          <a:bodyPr wrap="square" anchor="t" lIns="0" rIns="0" tIns="0" bIns="0"/>
          <a:lstStyle/>
          <a:p>
            <a:pPr algn="l"/>
            <a:r>
              <a:rPr sz="1400" b="1" i="0">
                <a:solidFill>
                  <a:srgbClr val="14142B"/>
                </a:solidFill>
                <a:latin typeface="Calibri"/>
              </a:rPr>
              <a:t>Keep talking while it works</a:t>
            </a:r>
          </a:p>
          <a:p>
            <a:pPr algn="l"/>
            <a:r>
              <a:rPr sz="1200" b="0" i="0">
                <a:solidFill>
                  <a:srgbClr val="63637E"/>
                </a:solidFill>
                <a:latin typeface="Calibri"/>
              </a:rPr>
              <a:t>tools run in the background, never blocking the conversation</a:t>
            </a:r>
          </a:p>
        </p:txBody>
      </p:sp>
      <p:sp>
        <p:nvSpPr>
          <p:cNvPr id="115" name="Oval 114"/>
          <p:cNvSpPr/>
          <p:nvPr/>
        </p:nvSpPr>
        <p:spPr>
          <a:xfrm>
            <a:off x="6355080" y="4937759"/>
            <a:ext cx="502920" cy="50292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6" name="Picture 115" descr="repeat.png"/>
          <p:cNvPicPr>
            <a:picLocks noChangeAspect="1"/>
          </p:cNvPicPr>
          <p:nvPr/>
        </p:nvPicPr>
        <p:blipFill>
          <a:blip r:embed="rId6"/>
          <a:stretch>
            <a:fillRect/>
          </a:stretch>
        </p:blipFill>
        <p:spPr>
          <a:xfrm>
            <a:off x="6455664" y="5038344"/>
            <a:ext cx="301752" cy="301752"/>
          </a:xfrm>
          <a:prstGeom prst="rect">
            <a:avLst/>
          </a:prstGeom>
        </p:spPr>
      </p:pic>
      <p:sp>
        <p:nvSpPr>
          <p:cNvPr id="117" name="TextBox 116"/>
          <p:cNvSpPr txBox="1"/>
          <p:nvPr/>
        </p:nvSpPr>
        <p:spPr>
          <a:xfrm>
            <a:off x="6995160" y="4919472"/>
            <a:ext cx="4389120" cy="594360"/>
          </a:xfrm>
          <a:prstGeom prst="rect">
            <a:avLst/>
          </a:prstGeom>
          <a:noFill/>
        </p:spPr>
        <p:txBody>
          <a:bodyPr wrap="square" anchor="t" lIns="0" rIns="0" tIns="0" bIns="0"/>
          <a:lstStyle/>
          <a:p>
            <a:pPr algn="l"/>
            <a:r>
              <a:rPr sz="1400" b="1" i="0">
                <a:solidFill>
                  <a:srgbClr val="14142B"/>
                </a:solidFill>
                <a:latin typeface="Calibri"/>
              </a:rPr>
              <a:t>Recover cleanly</a:t>
            </a:r>
          </a:p>
          <a:p>
            <a:pPr algn="l"/>
            <a:r>
              <a:rPr sz="1200" b="0" i="0">
                <a:solidFill>
                  <a:srgbClr val="63637E"/>
                </a:solidFill>
                <a:latin typeface="Calibri"/>
              </a:rPr>
              <a:t>drop what the user took back, and never repeat an action</a:t>
            </a:r>
          </a:p>
        </p:txBody>
      </p:sp>
      <p:sp>
        <p:nvSpPr>
          <p:cNvPr id="118" name="Rounded Rectangle 117"/>
          <p:cNvSpPr/>
          <p:nvPr/>
        </p:nvSpPr>
        <p:spPr>
          <a:xfrm>
            <a:off x="6355080" y="5760720"/>
            <a:ext cx="5029200" cy="548640"/>
          </a:xfrm>
          <a:prstGeom prst="roundRect">
            <a:avLst>
              <a:gd name="adj" fmla="val 50000"/>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300" b="1" i="0">
                <a:solidFill>
                  <a:srgbClr val="6D28D9"/>
                </a:solidFill>
                <a:latin typeface="Calibri"/>
              </a:rPr>
              <a:t>Our answer: think fast, but act only once you’ve finished.</a:t>
            </a:r>
          </a:p>
        </p:txBody>
      </p:sp>
      <p:sp>
        <p:nvSpPr>
          <p:cNvPr id="119" name="Rounded Rectangle 118"/>
          <p:cNvSpPr/>
          <p:nvPr/>
        </p:nvSpPr>
        <p:spPr>
          <a:xfrm>
            <a:off x="841248" y="6464808"/>
            <a:ext cx="1408175"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Problem</a:t>
            </a:r>
          </a:p>
        </p:txBody>
      </p:sp>
      <p:sp>
        <p:nvSpPr>
          <p:cNvPr id="120" name="Rounded Rectangle 119">
            <a:hlinkClick action="ppaction://hlinksldjump" r:id="rId7"/>
          </p:cNvPr>
          <p:cNvSpPr/>
          <p:nvPr/>
        </p:nvSpPr>
        <p:spPr>
          <a:xfrm>
            <a:off x="2359151"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121" name="Rounded Rectangle 120">
            <a:hlinkClick action="ppaction://hlinksldjump" r:id="rId8"/>
          </p:cNvPr>
          <p:cNvSpPr/>
          <p:nvPr/>
        </p:nvSpPr>
        <p:spPr>
          <a:xfrm>
            <a:off x="3877055"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122" name="Rounded Rectangle 121">
            <a:hlinkClick action="ppaction://hlinksldjump" r:id="rId9"/>
          </p:cNvPr>
          <p:cNvSpPr/>
          <p:nvPr/>
        </p:nvSpPr>
        <p:spPr>
          <a:xfrm>
            <a:off x="5394959"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25" name="Rounded Rectangle 124">
            <a:hlinkClick action="ppaction://hlinksldjump" r:id="rId12"/>
          </p:cNvPr>
          <p:cNvSpPr/>
          <p:nvPr/>
        </p:nvSpPr>
        <p:spPr>
          <a:xfrm>
            <a:off x="6912863"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126" name="Rounded Rectangle 125">
            <a:hlinkClick action="ppaction://hlinksldjump" r:id="rId13"/>
          </p:cNvPr>
          <p:cNvSpPr/>
          <p:nvPr/>
        </p:nvSpPr>
        <p:spPr>
          <a:xfrm>
            <a:off x="8430767"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127" name="Rounded Rectangle 126">
            <a:hlinkClick action="ppaction://hlinksldjump" r:id="rId14"/>
          </p:cNvPr>
          <p:cNvSpPr/>
          <p:nvPr/>
        </p:nvSpPr>
        <p:spPr>
          <a:xfrm>
            <a:off x="9948671"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600" i="0">
                <a:solidFill>
                  <a:srgbClr val="704EA6"/>
                </a:solidFill>
                <a:latin typeface="Calibri"/>
                <a:ea typeface="Calibri"/>
                <a:cs typeface="Calibri"/>
                <a:sym typeface="Calibri"/>
              </a:rPr>
              <a:t>Existing Solutions &amp; Gaps</a:t>
            </a:r>
            <a:endParaRPr/>
          </a:p>
        </p:txBody>
      </p:sp>
      <p:sp>
        <p:nvSpPr>
          <p:cNvPr id="108" name="Rounded Rectangle 107"/>
          <p:cNvSpPr/>
          <p:nvPr/>
        </p:nvSpPr>
        <p:spPr>
          <a:xfrm>
            <a:off x="822960" y="1280160"/>
            <a:ext cx="5486400" cy="4572000"/>
          </a:xfrm>
          <a:prstGeom prst="roundRect">
            <a:avLst>
              <a:gd name="adj" fmla="val 4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51560" y="1417320"/>
            <a:ext cx="5029200" cy="685800"/>
          </a:xfrm>
          <a:prstGeom prst="rect">
            <a:avLst/>
          </a:prstGeom>
          <a:noFill/>
        </p:spPr>
        <p:txBody>
          <a:bodyPr wrap="square" anchor="t" lIns="0" rIns="0" tIns="0" bIns="0"/>
          <a:lstStyle/>
          <a:p>
            <a:pPr algn="l"/>
            <a:r>
              <a:rPr sz="1600" b="1" i="0">
                <a:solidFill>
                  <a:srgbClr val="14142B"/>
                </a:solidFill>
                <a:latin typeface="Calibri"/>
              </a:rPr>
              <a:t>When people correct themselves, assistants fail</a:t>
            </a:r>
          </a:p>
          <a:p>
            <a:pPr algn="l"/>
            <a:r>
              <a:rPr sz="1100" b="0" i="0">
                <a:solidFill>
                  <a:srgbClr val="63637E"/>
                </a:solidFill>
                <a:latin typeface="Calibri"/>
              </a:rPr>
              <a:t>Pass rate on the self-correction recordings, as published in the benchmark paper</a:t>
            </a:r>
          </a:p>
        </p:txBody>
      </p:sp>
      <p:graphicFrame>
        <p:nvGraphicFramePr>
          <p:cNvPr id="110" name="Chart 109"/>
          <p:cNvGraphicFramePr>
            <a:graphicFrameLocks noGrp="1"/>
          </p:cNvGraphicFramePr>
          <p:nvPr/>
        </p:nvGraphicFramePr>
        <p:xfrm>
          <a:off x="914400" y="2148840"/>
          <a:ext cx="5303520" cy="3611880"/>
        </p:xfrm>
        <a:graphic>
          <a:graphicData uri="http://schemas.openxmlformats.org/drawingml/2006/chart">
            <c:chart r:id="rId3"/>
          </a:graphicData>
        </a:graphic>
      </p:graphicFrame>
      <p:sp>
        <p:nvSpPr>
          <p:cNvPr id="111" name="TextBox 110"/>
          <p:cNvSpPr txBox="1"/>
          <p:nvPr/>
        </p:nvSpPr>
        <p:spPr>
          <a:xfrm>
            <a:off x="822960" y="5897880"/>
            <a:ext cx="5486400" cy="411480"/>
          </a:xfrm>
          <a:prstGeom prst="rect">
            <a:avLst/>
          </a:prstGeom>
          <a:noFill/>
        </p:spPr>
        <p:txBody>
          <a:bodyPr wrap="square" anchor="t" lIns="0" rIns="0" tIns="0" bIns="0"/>
          <a:lstStyle/>
          <a:p>
            <a:pPr algn="l"/>
            <a:r>
              <a:rPr sz="1000" b="0" i="1">
                <a:solidFill>
                  <a:srgbClr val="63637E"/>
                </a:solidFill>
                <a:latin typeface="Calibri"/>
              </a:rPr>
              <a:t>Highlighted: the two systems our set-ups build on. Source: Full-Duplex-Bench v3 paper, Table 3.</a:t>
            </a:r>
          </a:p>
        </p:txBody>
      </p:sp>
      <p:sp>
        <p:nvSpPr>
          <p:cNvPr id="112" name="Rounded Rectangle 111"/>
          <p:cNvSpPr/>
          <p:nvPr/>
        </p:nvSpPr>
        <p:spPr>
          <a:xfrm>
            <a:off x="6583680" y="1280160"/>
            <a:ext cx="4800600" cy="13716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6766560" y="1481328"/>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4" name="Picture 113" descr="file-text.png"/>
          <p:cNvPicPr>
            <a:picLocks noChangeAspect="1"/>
          </p:cNvPicPr>
          <p:nvPr/>
        </p:nvPicPr>
        <p:blipFill>
          <a:blip r:embed="rId4"/>
          <a:stretch>
            <a:fillRect/>
          </a:stretch>
        </p:blipFill>
        <p:spPr>
          <a:xfrm>
            <a:off x="6876288" y="1591055"/>
            <a:ext cx="329184" cy="329184"/>
          </a:xfrm>
          <a:prstGeom prst="rect">
            <a:avLst/>
          </a:prstGeom>
        </p:spPr>
      </p:pic>
      <p:sp>
        <p:nvSpPr>
          <p:cNvPr id="115" name="TextBox 114"/>
          <p:cNvSpPr txBox="1"/>
          <p:nvPr/>
        </p:nvSpPr>
        <p:spPr>
          <a:xfrm>
            <a:off x="7498079" y="1444751"/>
            <a:ext cx="3749039" cy="1097280"/>
          </a:xfrm>
          <a:prstGeom prst="rect">
            <a:avLst/>
          </a:prstGeom>
          <a:noFill/>
        </p:spPr>
        <p:txBody>
          <a:bodyPr wrap="square" anchor="t" lIns="0" rIns="0" tIns="0" bIns="0"/>
          <a:lstStyle/>
          <a:p>
            <a:pPr algn="l">
              <a:spcAft>
                <a:spcPts val="300"/>
              </a:spcAft>
            </a:pPr>
            <a:r>
              <a:rPr sz="1450" b="1" i="0">
                <a:solidFill>
                  <a:srgbClr val="14142B"/>
                </a:solidFill>
                <a:latin typeface="Calibri"/>
              </a:rPr>
              <a:t>Speech-to-text commits too early</a:t>
            </a:r>
          </a:p>
          <a:p>
            <a:pPr algn="l">
              <a:spcAft>
                <a:spcPts val="300"/>
              </a:spcAft>
            </a:pPr>
            <a:r>
              <a:rPr sz="1200" b="0" i="0">
                <a:solidFill>
                  <a:srgbClr val="63637E"/>
                </a:solidFill>
                <a:latin typeface="Calibri"/>
              </a:rPr>
              <a:t>In the classic pipeline the transcript is final before the correction arrives, so the AI never hears it.</a:t>
            </a:r>
          </a:p>
        </p:txBody>
      </p:sp>
      <p:sp>
        <p:nvSpPr>
          <p:cNvPr id="116" name="Rounded Rectangle 115"/>
          <p:cNvSpPr/>
          <p:nvPr/>
        </p:nvSpPr>
        <p:spPr>
          <a:xfrm>
            <a:off x="6583680" y="2788920"/>
            <a:ext cx="4800600" cy="13716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766560" y="2990088"/>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8" name="Picture 117" descr="timer.png"/>
          <p:cNvPicPr>
            <a:picLocks noChangeAspect="1"/>
          </p:cNvPicPr>
          <p:nvPr/>
        </p:nvPicPr>
        <p:blipFill>
          <a:blip r:embed="rId5"/>
          <a:stretch>
            <a:fillRect/>
          </a:stretch>
        </p:blipFill>
        <p:spPr>
          <a:xfrm>
            <a:off x="6876288" y="3099816"/>
            <a:ext cx="329184" cy="329184"/>
          </a:xfrm>
          <a:prstGeom prst="rect">
            <a:avLst/>
          </a:prstGeom>
        </p:spPr>
      </p:pic>
      <p:sp>
        <p:nvSpPr>
          <p:cNvPr id="119" name="TextBox 118"/>
          <p:cNvSpPr txBox="1"/>
          <p:nvPr/>
        </p:nvSpPr>
        <p:spPr>
          <a:xfrm>
            <a:off x="7498079" y="2953512"/>
            <a:ext cx="3749039" cy="1097280"/>
          </a:xfrm>
          <a:prstGeom prst="rect">
            <a:avLst/>
          </a:prstGeom>
          <a:noFill/>
        </p:spPr>
        <p:txBody>
          <a:bodyPr wrap="square" anchor="t" lIns="0" rIns="0" tIns="0" bIns="0"/>
          <a:lstStyle/>
          <a:p>
            <a:pPr algn="l">
              <a:spcAft>
                <a:spcPts val="300"/>
              </a:spcAft>
            </a:pPr>
            <a:r>
              <a:rPr sz="1450" b="1" i="0">
                <a:solidFill>
                  <a:srgbClr val="14142B"/>
                </a:solidFill>
                <a:latin typeface="Calibri"/>
              </a:rPr>
              <a:t>Realtime models act before you finish</a:t>
            </a:r>
          </a:p>
          <a:p>
            <a:pPr algn="l">
              <a:spcAft>
                <a:spcPts val="300"/>
              </a:spcAft>
            </a:pPr>
            <a:r>
              <a:rPr sz="1200" b="0" i="0">
                <a:solidFill>
                  <a:srgbClr val="63637E"/>
                </a:solidFill>
                <a:latin typeface="Calibri"/>
              </a:rPr>
              <a:t>The paper caught Gemini Live 3.1 calling a tool 2.27 s before the user had finished correcting, locking in the wrong city.</a:t>
            </a:r>
          </a:p>
        </p:txBody>
      </p:sp>
      <p:sp>
        <p:nvSpPr>
          <p:cNvPr id="120" name="Rounded Rectangle 119"/>
          <p:cNvSpPr/>
          <p:nvPr/>
        </p:nvSpPr>
        <p:spPr>
          <a:xfrm>
            <a:off x="6583680" y="4297679"/>
            <a:ext cx="4800600" cy="13716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6766560" y="4498847"/>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2" name="Picture 121" descr="wrench.png"/>
          <p:cNvPicPr>
            <a:picLocks noChangeAspect="1"/>
          </p:cNvPicPr>
          <p:nvPr/>
        </p:nvPicPr>
        <p:blipFill>
          <a:blip r:embed="rId6"/>
          <a:stretch>
            <a:fillRect/>
          </a:stretch>
        </p:blipFill>
        <p:spPr>
          <a:xfrm>
            <a:off x="6876288" y="4608575"/>
            <a:ext cx="329184" cy="329184"/>
          </a:xfrm>
          <a:prstGeom prst="rect">
            <a:avLst/>
          </a:prstGeom>
        </p:spPr>
      </p:pic>
      <p:sp>
        <p:nvSpPr>
          <p:cNvPr id="123" name="TextBox 122"/>
          <p:cNvSpPr txBox="1"/>
          <p:nvPr/>
        </p:nvSpPr>
        <p:spPr>
          <a:xfrm>
            <a:off x="7498079" y="4462271"/>
            <a:ext cx="3749039" cy="1097280"/>
          </a:xfrm>
          <a:prstGeom prst="rect">
            <a:avLst/>
          </a:prstGeom>
          <a:noFill/>
        </p:spPr>
        <p:txBody>
          <a:bodyPr wrap="square" anchor="t" lIns="0" rIns="0" tIns="0" bIns="0"/>
          <a:lstStyle/>
          <a:p>
            <a:pPr algn="l">
              <a:spcAft>
                <a:spcPts val="300"/>
              </a:spcAft>
            </a:pPr>
            <a:r>
              <a:rPr sz="1450" b="1" i="0">
                <a:solidFill>
                  <a:srgbClr val="14142B"/>
                </a:solidFill>
                <a:latin typeface="Calibri"/>
              </a:rPr>
              <a:t>Frameworks leave it to every developer</a:t>
            </a:r>
          </a:p>
          <a:p>
            <a:pPr algn="l">
              <a:spcAft>
                <a:spcPts val="300"/>
              </a:spcAft>
            </a:pPr>
            <a:r>
              <a:rPr sz="1200" b="0" i="0">
                <a:solidFill>
                  <a:srgbClr val="63637E"/>
                </a:solidFill>
                <a:latin typeface="Calibri"/>
              </a:rPr>
              <a:t>Voice frameworks either cancel on any interruption or keep going. Each team has to add safety rules tool by tool.</a:t>
            </a:r>
          </a:p>
        </p:txBody>
      </p:sp>
      <p:sp>
        <p:nvSpPr>
          <p:cNvPr id="124" name="Rounded Rectangle 123"/>
          <p:cNvSpPr/>
          <p:nvPr/>
        </p:nvSpPr>
        <p:spPr>
          <a:xfrm>
            <a:off x="6583680" y="5806440"/>
            <a:ext cx="4800600" cy="502920"/>
          </a:xfrm>
          <a:prstGeom prst="roundRect">
            <a:avLst>
              <a:gd name="adj" fmla="val 50000"/>
            </a:avLst>
          </a:prstGeom>
          <a:solidFill>
            <a:srgbClr val="FDE2E2"/>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250" b="1" i="0">
                <a:solidFill>
                  <a:srgbClr val="C02626"/>
                </a:solidFill>
                <a:latin typeface="Calibri"/>
              </a:rPr>
              <a:t>Even the best system passes only 60% of the whole benchmark.</a:t>
            </a:r>
          </a:p>
        </p:txBody>
      </p:sp>
      <p:sp>
        <p:nvSpPr>
          <p:cNvPr id="125" name="Rounded Rectangle 124">
            <a:hlinkClick action="ppaction://hlinksldjump" r:id="rId7"/>
          </p:cNvPr>
          <p:cNvSpPr/>
          <p:nvPr/>
        </p:nvSpPr>
        <p:spPr>
          <a:xfrm>
            <a:off x="841248"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126" name="Rounded Rectangle 125"/>
          <p:cNvSpPr/>
          <p:nvPr/>
        </p:nvSpPr>
        <p:spPr>
          <a:xfrm>
            <a:off x="2359151" y="6464808"/>
            <a:ext cx="1408175"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Gaps</a:t>
            </a:r>
          </a:p>
        </p:txBody>
      </p:sp>
      <p:sp>
        <p:nvSpPr>
          <p:cNvPr id="127" name="Rounded Rectangle 126">
            <a:hlinkClick action="ppaction://hlinksldjump" r:id="rId8"/>
          </p:cNvPr>
          <p:cNvSpPr/>
          <p:nvPr/>
        </p:nvSpPr>
        <p:spPr>
          <a:xfrm>
            <a:off x="3877055"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128" name="Rounded Rectangle 127">
            <a:hlinkClick action="ppaction://hlinksldjump" r:id="rId9"/>
          </p:cNvPr>
          <p:cNvSpPr/>
          <p:nvPr/>
        </p:nvSpPr>
        <p:spPr>
          <a:xfrm>
            <a:off x="5394959"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31" name="Rounded Rectangle 130">
            <a:hlinkClick action="ppaction://hlinksldjump" r:id="rId12"/>
          </p:cNvPr>
          <p:cNvSpPr/>
          <p:nvPr/>
        </p:nvSpPr>
        <p:spPr>
          <a:xfrm>
            <a:off x="6912863"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132" name="Rounded Rectangle 131">
            <a:hlinkClick action="ppaction://hlinksldjump" r:id="rId13"/>
          </p:cNvPr>
          <p:cNvSpPr/>
          <p:nvPr/>
        </p:nvSpPr>
        <p:spPr>
          <a:xfrm>
            <a:off x="8430767"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133" name="Rounded Rectangle 132">
            <a:hlinkClick action="ppaction://hlinksldjump" r:id="rId14"/>
          </p:cNvPr>
          <p:cNvSpPr/>
          <p:nvPr/>
        </p:nvSpPr>
        <p:spPr>
          <a:xfrm>
            <a:off x="9948671"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4"/>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600" i="0">
                <a:solidFill>
                  <a:srgbClr val="704EA6"/>
                </a:solidFill>
                <a:latin typeface="Calibri"/>
                <a:ea typeface="Calibri"/>
                <a:cs typeface="Calibri"/>
                <a:sym typeface="Calibri"/>
              </a:rPr>
              <a:t>Our Solutions &amp; Architecture Diagram</a:t>
            </a:r>
            <a:endParaRPr/>
          </a:p>
        </p:txBody>
      </p:sp>
      <p:sp>
        <p:nvSpPr>
          <p:cNvPr id="114" name="TextBox 113"/>
          <p:cNvSpPr txBox="1"/>
          <p:nvPr/>
        </p:nvSpPr>
        <p:spPr>
          <a:xfrm>
            <a:off x="822960" y="1234440"/>
            <a:ext cx="5486400" cy="502920"/>
          </a:xfrm>
          <a:prstGeom prst="rect">
            <a:avLst/>
          </a:prstGeom>
          <a:noFill/>
        </p:spPr>
        <p:txBody>
          <a:bodyPr wrap="square" anchor="t" lIns="0" rIns="0" tIns="0" bIns="0"/>
          <a:lstStyle/>
          <a:p>
            <a:pPr algn="l"/>
            <a:r>
              <a:rPr sz="2600" b="1" i="0">
                <a:solidFill>
                  <a:srgbClr val="14142B"/>
                </a:solidFill>
                <a:latin typeface="Calibri"/>
              </a:rPr>
              <a:t>Keel: think fast, act carefully</a:t>
            </a:r>
          </a:p>
        </p:txBody>
      </p:sp>
      <p:sp>
        <p:nvSpPr>
          <p:cNvPr id="115" name="TextBox 114"/>
          <p:cNvSpPr txBox="1"/>
          <p:nvPr/>
        </p:nvSpPr>
        <p:spPr>
          <a:xfrm>
            <a:off x="822960" y="1755648"/>
            <a:ext cx="5486400" cy="868680"/>
          </a:xfrm>
          <a:prstGeom prst="rect">
            <a:avLst/>
          </a:prstGeom>
          <a:noFill/>
        </p:spPr>
        <p:txBody>
          <a:bodyPr wrap="square" anchor="t" lIns="0" rIns="0" tIns="0" bIns="0"/>
          <a:lstStyle/>
          <a:p>
            <a:pPr algn="l"/>
            <a:r>
              <a:rPr sz="1400" b="0" i="0">
                <a:solidFill>
                  <a:srgbClr val="63637E"/>
                </a:solidFill>
                <a:latin typeface="Calibri"/>
              </a:rPr>
              <a:t>Keel sits between the assistant’s brain (the language model) and its hands (the tools). The model can plan as early as it likes; Keel decides when an action is allowed to happen.</a:t>
            </a:r>
          </a:p>
        </p:txBody>
      </p:sp>
      <p:pic>
        <p:nvPicPr>
          <p:cNvPr id="116" name="Picture 115" descr="kitchen.png"/>
          <p:cNvPicPr>
            <a:picLocks noChangeAspect="1"/>
          </p:cNvPicPr>
          <p:nvPr/>
        </p:nvPicPr>
        <p:blipFill>
          <a:blip r:embed="rId3"/>
          <a:srcRect t="17852" b="17852"/>
          <a:stretch>
            <a:fillRect/>
          </a:stretch>
        </p:blipFill>
        <p:spPr>
          <a:xfrm>
            <a:off x="822960" y="2697480"/>
            <a:ext cx="5486400" cy="1984248"/>
          </a:xfrm>
          <a:prstGeom prst="roundRect">
            <a:avLst>
              <a:gd name="adj" fmla="val 4000"/>
            </a:avLst>
          </a:prstGeom>
          <a:ln w="12700">
            <a:solidFill>
              <a:srgbClr val="D9D3F0"/>
            </a:solidFill>
          </a:ln>
        </p:spPr>
      </p:pic>
      <p:sp>
        <p:nvSpPr>
          <p:cNvPr id="117" name="TextBox 116"/>
          <p:cNvSpPr txBox="1"/>
          <p:nvPr/>
        </p:nvSpPr>
        <p:spPr>
          <a:xfrm>
            <a:off x="822960" y="4709160"/>
            <a:ext cx="5486400" cy="182880"/>
          </a:xfrm>
          <a:prstGeom prst="rect">
            <a:avLst/>
          </a:prstGeom>
          <a:noFill/>
        </p:spPr>
        <p:txBody>
          <a:bodyPr wrap="square" anchor="t" lIns="0" rIns="0" tIns="0" bIns="0"/>
          <a:lstStyle/>
          <a:p>
            <a:pPr algn="r"/>
            <a:r>
              <a:rPr sz="850" b="0" i="1">
                <a:solidFill>
                  <a:srgbClr val="9A9AB0"/>
                </a:solidFill>
                <a:latin typeface="Calibri"/>
              </a:rPr>
              <a:t>Illustration, AI-generated</a:t>
            </a:r>
          </a:p>
        </p:txBody>
      </p:sp>
      <p:sp>
        <p:nvSpPr>
          <p:cNvPr id="118" name="TextBox 117"/>
          <p:cNvSpPr txBox="1"/>
          <p:nvPr/>
        </p:nvSpPr>
        <p:spPr>
          <a:xfrm>
            <a:off x="822960" y="4983480"/>
            <a:ext cx="5486400" cy="274320"/>
          </a:xfrm>
          <a:prstGeom prst="rect">
            <a:avLst/>
          </a:prstGeom>
          <a:noFill/>
        </p:spPr>
        <p:txBody>
          <a:bodyPr wrap="square" anchor="t" lIns="0" rIns="0" tIns="0" bIns="0"/>
          <a:lstStyle/>
          <a:p>
            <a:pPr algn="l"/>
            <a:r>
              <a:rPr sz="1250" b="1" i="0">
                <a:solidFill>
                  <a:srgbClr val="6D28D9"/>
                </a:solidFill>
                <a:latin typeface="Calibri"/>
              </a:rPr>
              <a:t>A real recording, step by step</a:t>
            </a:r>
          </a:p>
        </p:txBody>
      </p:sp>
      <p:sp>
        <p:nvSpPr>
          <p:cNvPr id="119" name="Rounded Rectangle 118"/>
          <p:cNvSpPr/>
          <p:nvPr/>
        </p:nvSpPr>
        <p:spPr>
          <a:xfrm>
            <a:off x="822960" y="5303520"/>
            <a:ext cx="1645920" cy="100584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32688" y="5358384"/>
            <a:ext cx="1463040" cy="502920"/>
          </a:xfrm>
          <a:prstGeom prst="rect">
            <a:avLst/>
          </a:prstGeom>
          <a:noFill/>
        </p:spPr>
        <p:txBody>
          <a:bodyPr wrap="square" anchor="t" lIns="0" rIns="0" tIns="0" bIns="0"/>
          <a:lstStyle/>
          <a:p>
            <a:pPr algn="l"/>
            <a:r>
              <a:rPr sz="1050" b="1" i="0">
                <a:solidFill>
                  <a:srgbClr val="9A9AB0"/>
                </a:solidFill>
                <a:latin typeface="Calibri"/>
              </a:rPr>
              <a:t>0:09  </a:t>
            </a:r>
            <a:r>
              <a:rPr sz="1100" b="0" i="0">
                <a:solidFill>
                  <a:srgbClr val="14142B"/>
                </a:solidFill>
                <a:latin typeface="Calibri"/>
              </a:rPr>
              <a:t>“Miami, October 5th”</a:t>
            </a:r>
          </a:p>
        </p:txBody>
      </p:sp>
      <p:sp>
        <p:nvSpPr>
          <p:cNvPr id="121" name="Rounded Rectangle 120"/>
          <p:cNvSpPr/>
          <p:nvPr/>
        </p:nvSpPr>
        <p:spPr>
          <a:xfrm>
            <a:off x="932688" y="5916168"/>
            <a:ext cx="1005840" cy="27432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B45309"/>
                </a:solidFill>
                <a:latin typeface="Calibri"/>
              </a:rPr>
              <a:t>held</a:t>
            </a:r>
          </a:p>
        </p:txBody>
      </p:sp>
      <p:cxnSp>
        <p:nvCxnSpPr>
          <p:cNvPr id="122" name="Connector 121"/>
          <p:cNvCxnSpPr/>
          <p:nvPr/>
        </p:nvCxnSpPr>
        <p:spPr>
          <a:xfrm>
            <a:off x="2487168" y="5806440"/>
            <a:ext cx="228600" cy="0"/>
          </a:xfrm>
          <a:prstGeom prst="line">
            <a:avLst/>
          </a:prstGeom>
          <a:ln w="15875">
            <a:solidFill>
              <a:srgbClr val="9A9A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3" name="Rounded Rectangle 122"/>
          <p:cNvSpPr/>
          <p:nvPr/>
        </p:nvSpPr>
        <p:spPr>
          <a:xfrm>
            <a:off x="2743200" y="5303520"/>
            <a:ext cx="1645920" cy="100584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852928" y="5358384"/>
            <a:ext cx="1463040" cy="502920"/>
          </a:xfrm>
          <a:prstGeom prst="rect">
            <a:avLst/>
          </a:prstGeom>
          <a:noFill/>
        </p:spPr>
        <p:txBody>
          <a:bodyPr wrap="square" anchor="t" lIns="0" rIns="0" tIns="0" bIns="0"/>
          <a:lstStyle/>
          <a:p>
            <a:pPr algn="l"/>
            <a:r>
              <a:rPr sz="1050" b="1" i="0">
                <a:solidFill>
                  <a:srgbClr val="9A9AB0"/>
                </a:solidFill>
                <a:latin typeface="Calibri"/>
              </a:rPr>
              <a:t>0:11  </a:t>
            </a:r>
            <a:r>
              <a:rPr sz="1100" b="0" i="0">
                <a:solidFill>
                  <a:srgbClr val="14142B"/>
                </a:solidFill>
                <a:latin typeface="Calibri"/>
              </a:rPr>
              <a:t>“Oh, wait.”</a:t>
            </a:r>
          </a:p>
        </p:txBody>
      </p:sp>
      <p:sp>
        <p:nvSpPr>
          <p:cNvPr id="125" name="Rounded Rectangle 124"/>
          <p:cNvSpPr/>
          <p:nvPr/>
        </p:nvSpPr>
        <p:spPr>
          <a:xfrm>
            <a:off x="2852928" y="5916168"/>
            <a:ext cx="1005840" cy="274320"/>
          </a:xfrm>
          <a:prstGeom prst="roundRect">
            <a:avLst>
              <a:gd name="adj" fmla="val 50000"/>
            </a:avLst>
          </a:prstGeom>
          <a:solidFill>
            <a:srgbClr val="FDE2E2"/>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C02626"/>
                </a:solidFill>
                <a:latin typeface="Calibri"/>
              </a:rPr>
              <a:t>dropped</a:t>
            </a:r>
          </a:p>
        </p:txBody>
      </p:sp>
      <p:cxnSp>
        <p:nvCxnSpPr>
          <p:cNvPr id="126" name="Connector 125"/>
          <p:cNvCxnSpPr/>
          <p:nvPr/>
        </p:nvCxnSpPr>
        <p:spPr>
          <a:xfrm>
            <a:off x="4407408" y="5806440"/>
            <a:ext cx="228600" cy="0"/>
          </a:xfrm>
          <a:prstGeom prst="line">
            <a:avLst/>
          </a:prstGeom>
          <a:ln w="15875">
            <a:solidFill>
              <a:srgbClr val="9A9A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7" name="Rounded Rectangle 126"/>
          <p:cNvSpPr/>
          <p:nvPr/>
        </p:nvSpPr>
        <p:spPr>
          <a:xfrm>
            <a:off x="4663440" y="5303520"/>
            <a:ext cx="1645920" cy="100584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773168" y="5358384"/>
            <a:ext cx="1463040" cy="502920"/>
          </a:xfrm>
          <a:prstGeom prst="rect">
            <a:avLst/>
          </a:prstGeom>
          <a:noFill/>
        </p:spPr>
        <p:txBody>
          <a:bodyPr wrap="square" anchor="t" lIns="0" rIns="0" tIns="0" bIns="0"/>
          <a:lstStyle/>
          <a:p>
            <a:pPr algn="l"/>
            <a:r>
              <a:rPr sz="1050" b="1" i="0">
                <a:solidFill>
                  <a:srgbClr val="9A9AB0"/>
                </a:solidFill>
                <a:latin typeface="Calibri"/>
              </a:rPr>
              <a:t>0:21  </a:t>
            </a:r>
            <a:r>
              <a:rPr sz="1100" b="0" i="0">
                <a:solidFill>
                  <a:srgbClr val="14142B"/>
                </a:solidFill>
                <a:latin typeface="Calibri"/>
              </a:rPr>
              <a:t>“make it October 7th”</a:t>
            </a:r>
          </a:p>
        </p:txBody>
      </p:sp>
      <p:sp>
        <p:nvSpPr>
          <p:cNvPr id="129" name="Rounded Rectangle 128"/>
          <p:cNvSpPr/>
          <p:nvPr/>
        </p:nvSpPr>
        <p:spPr>
          <a:xfrm>
            <a:off x="4773168" y="5916168"/>
            <a:ext cx="1005840" cy="274320"/>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15803D"/>
                </a:solidFill>
                <a:latin typeface="Calibri"/>
              </a:rPr>
              <a:t>runs once</a:t>
            </a:r>
          </a:p>
        </p:txBody>
      </p:sp>
      <p:sp>
        <p:nvSpPr>
          <p:cNvPr id="130" name="Rounded Rectangle 129"/>
          <p:cNvSpPr/>
          <p:nvPr/>
        </p:nvSpPr>
        <p:spPr>
          <a:xfrm>
            <a:off x="6583680" y="1280160"/>
            <a:ext cx="4800600" cy="1161288"/>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6766560" y="1554480"/>
            <a:ext cx="603504" cy="603504"/>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2" name="Picture 131" descr="hand.png"/>
          <p:cNvPicPr>
            <a:picLocks noChangeAspect="1"/>
          </p:cNvPicPr>
          <p:nvPr/>
        </p:nvPicPr>
        <p:blipFill>
          <a:blip r:embed="rId4"/>
          <a:stretch>
            <a:fillRect/>
          </a:stretch>
        </p:blipFill>
        <p:spPr>
          <a:xfrm>
            <a:off x="6887260" y="1675180"/>
            <a:ext cx="362102" cy="362102"/>
          </a:xfrm>
          <a:prstGeom prst="rect">
            <a:avLst/>
          </a:prstGeom>
        </p:spPr>
      </p:pic>
      <p:sp>
        <p:nvSpPr>
          <p:cNvPr id="133" name="TextBox 132"/>
          <p:cNvSpPr txBox="1"/>
          <p:nvPr/>
        </p:nvSpPr>
        <p:spPr>
          <a:xfrm>
            <a:off x="7543800" y="1463039"/>
            <a:ext cx="3703320" cy="868680"/>
          </a:xfrm>
          <a:prstGeom prst="rect">
            <a:avLst/>
          </a:prstGeom>
          <a:noFill/>
        </p:spPr>
        <p:txBody>
          <a:bodyPr wrap="square" anchor="t" lIns="0" rIns="0" tIns="0" bIns="0"/>
          <a:lstStyle/>
          <a:p>
            <a:pPr algn="l">
              <a:spcAft>
                <a:spcPts val="200"/>
              </a:spcAft>
            </a:pPr>
            <a:r>
              <a:rPr sz="1500" b="1" i="0">
                <a:solidFill>
                  <a:srgbClr val="14142B"/>
                </a:solidFill>
                <a:latin typeface="Calibri"/>
              </a:rPr>
              <a:t>Waits until you’re done</a:t>
            </a:r>
          </a:p>
          <a:p>
            <a:pPr algn="l">
              <a:spcAft>
                <a:spcPts val="200"/>
              </a:spcAft>
            </a:pPr>
            <a:r>
              <a:rPr sz="1200" b="0" i="0">
                <a:solidFill>
                  <a:srgbClr val="63637E"/>
                </a:solidFill>
                <a:latin typeface="Calibri"/>
              </a:rPr>
              <a:t>An action the AI plans while you’re still talking is held until you finish.</a:t>
            </a:r>
          </a:p>
        </p:txBody>
      </p:sp>
      <p:sp>
        <p:nvSpPr>
          <p:cNvPr id="134" name="Rounded Rectangle 133"/>
          <p:cNvSpPr/>
          <p:nvPr/>
        </p:nvSpPr>
        <p:spPr>
          <a:xfrm>
            <a:off x="6583680" y="2551176"/>
            <a:ext cx="4800600" cy="1161288"/>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6766560" y="2825496"/>
            <a:ext cx="603504" cy="603504"/>
          </a:xfrm>
          <a:prstGeom prst="ellipse">
            <a:avLst/>
          </a:prstGeom>
          <a:solidFill>
            <a:srgbClr val="FD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6" name="Picture 135" descr="circle-x.png"/>
          <p:cNvPicPr>
            <a:picLocks noChangeAspect="1"/>
          </p:cNvPicPr>
          <p:nvPr/>
        </p:nvPicPr>
        <p:blipFill>
          <a:blip r:embed="rId5"/>
          <a:stretch>
            <a:fillRect/>
          </a:stretch>
        </p:blipFill>
        <p:spPr>
          <a:xfrm>
            <a:off x="6887260" y="2946196"/>
            <a:ext cx="362102" cy="362102"/>
          </a:xfrm>
          <a:prstGeom prst="rect">
            <a:avLst/>
          </a:prstGeom>
        </p:spPr>
      </p:pic>
      <p:sp>
        <p:nvSpPr>
          <p:cNvPr id="137" name="TextBox 136"/>
          <p:cNvSpPr txBox="1"/>
          <p:nvPr/>
        </p:nvSpPr>
        <p:spPr>
          <a:xfrm>
            <a:off x="7543800" y="2734056"/>
            <a:ext cx="3703320" cy="868680"/>
          </a:xfrm>
          <a:prstGeom prst="rect">
            <a:avLst/>
          </a:prstGeom>
          <a:noFill/>
        </p:spPr>
        <p:txBody>
          <a:bodyPr wrap="square" anchor="t" lIns="0" rIns="0" tIns="0" bIns="0"/>
          <a:lstStyle/>
          <a:p>
            <a:pPr algn="l">
              <a:spcAft>
                <a:spcPts val="200"/>
              </a:spcAft>
            </a:pPr>
            <a:r>
              <a:rPr sz="1500" b="1" i="0">
                <a:solidFill>
                  <a:srgbClr val="14142B"/>
                </a:solidFill>
                <a:latin typeface="Calibri"/>
              </a:rPr>
              <a:t>Drops what you take back</a:t>
            </a:r>
          </a:p>
          <a:p>
            <a:pPr algn="l">
              <a:spcAft>
                <a:spcPts val="200"/>
              </a:spcAft>
            </a:pPr>
            <a:r>
              <a:rPr sz="1200" b="0" i="0">
                <a:solidFill>
                  <a:srgbClr val="63637E"/>
                </a:solidFill>
                <a:latin typeface="Calibri"/>
              </a:rPr>
              <a:t>Keep talking or correct yourself, and the held action is thrown away. It never runs.</a:t>
            </a:r>
          </a:p>
        </p:txBody>
      </p:sp>
      <p:sp>
        <p:nvSpPr>
          <p:cNvPr id="138" name="Rounded Rectangle 137"/>
          <p:cNvSpPr/>
          <p:nvPr/>
        </p:nvSpPr>
        <p:spPr>
          <a:xfrm>
            <a:off x="6583680" y="3822191"/>
            <a:ext cx="4800600" cy="1161288"/>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6766560" y="4096511"/>
            <a:ext cx="603504" cy="603504"/>
          </a:xfrm>
          <a:prstGeom prst="ellipse">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0" name="Picture 139" descr="circle-check.png"/>
          <p:cNvPicPr>
            <a:picLocks noChangeAspect="1"/>
          </p:cNvPicPr>
          <p:nvPr/>
        </p:nvPicPr>
        <p:blipFill>
          <a:blip r:embed="rId6"/>
          <a:stretch>
            <a:fillRect/>
          </a:stretch>
        </p:blipFill>
        <p:spPr>
          <a:xfrm>
            <a:off x="6887260" y="4217212"/>
            <a:ext cx="362102" cy="362102"/>
          </a:xfrm>
          <a:prstGeom prst="rect">
            <a:avLst/>
          </a:prstGeom>
        </p:spPr>
      </p:pic>
      <p:sp>
        <p:nvSpPr>
          <p:cNvPr id="141" name="TextBox 140"/>
          <p:cNvSpPr txBox="1"/>
          <p:nvPr/>
        </p:nvSpPr>
        <p:spPr>
          <a:xfrm>
            <a:off x="7543800" y="4005072"/>
            <a:ext cx="3703320" cy="868680"/>
          </a:xfrm>
          <a:prstGeom prst="rect">
            <a:avLst/>
          </a:prstGeom>
          <a:noFill/>
        </p:spPr>
        <p:txBody>
          <a:bodyPr wrap="square" anchor="t" lIns="0" rIns="0" tIns="0" bIns="0"/>
          <a:lstStyle/>
          <a:p>
            <a:pPr algn="l">
              <a:spcAft>
                <a:spcPts val="200"/>
              </a:spcAft>
            </a:pPr>
            <a:r>
              <a:rPr sz="1500" b="1" i="0">
                <a:solidFill>
                  <a:srgbClr val="14142B"/>
                </a:solidFill>
                <a:latin typeface="Calibri"/>
              </a:rPr>
              <a:t>Does it only once</a:t>
            </a:r>
          </a:p>
          <a:p>
            <a:pPr algn="l">
              <a:spcAft>
                <a:spcPts val="200"/>
              </a:spcAft>
            </a:pPr>
            <a:r>
              <a:rPr sz="1200" b="0" i="0">
                <a:solidFill>
                  <a:srgbClr val="63637E"/>
                </a:solidFill>
                <a:latin typeface="Calibri"/>
              </a:rPr>
              <a:t>Asking twice never books twice: the first result is reused.</a:t>
            </a:r>
          </a:p>
        </p:txBody>
      </p:sp>
      <p:sp>
        <p:nvSpPr>
          <p:cNvPr id="142" name="Rounded Rectangle 141"/>
          <p:cNvSpPr/>
          <p:nvPr/>
        </p:nvSpPr>
        <p:spPr>
          <a:xfrm>
            <a:off x="6583680" y="5093207"/>
            <a:ext cx="4800600" cy="1161288"/>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6766560" y="5367527"/>
            <a:ext cx="603504" cy="603504"/>
          </a:xfrm>
          <a:prstGeom prst="ellipse">
            <a:avLst/>
          </a:prstGeom>
          <a:solidFill>
            <a:srgbClr val="E6E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4" name="Picture 143" descr="badge-check.png"/>
          <p:cNvPicPr>
            <a:picLocks noChangeAspect="1"/>
          </p:cNvPicPr>
          <p:nvPr/>
        </p:nvPicPr>
        <p:blipFill>
          <a:blip r:embed="rId7"/>
          <a:stretch>
            <a:fillRect/>
          </a:stretch>
        </p:blipFill>
        <p:spPr>
          <a:xfrm>
            <a:off x="6887260" y="5488228"/>
            <a:ext cx="362102" cy="362102"/>
          </a:xfrm>
          <a:prstGeom prst="rect">
            <a:avLst/>
          </a:prstGeom>
        </p:spPr>
      </p:pic>
      <p:sp>
        <p:nvSpPr>
          <p:cNvPr id="145" name="TextBox 144"/>
          <p:cNvSpPr txBox="1"/>
          <p:nvPr/>
        </p:nvSpPr>
        <p:spPr>
          <a:xfrm>
            <a:off x="7543800" y="5276088"/>
            <a:ext cx="3703320" cy="868680"/>
          </a:xfrm>
          <a:prstGeom prst="rect">
            <a:avLst/>
          </a:prstGeom>
          <a:noFill/>
        </p:spPr>
        <p:txBody>
          <a:bodyPr wrap="square" anchor="t" lIns="0" rIns="0" tIns="0" bIns="0"/>
          <a:lstStyle/>
          <a:p>
            <a:pPr algn="l">
              <a:spcAft>
                <a:spcPts val="200"/>
              </a:spcAft>
            </a:pPr>
            <a:r>
              <a:rPr sz="1500" b="1" i="0">
                <a:solidFill>
                  <a:srgbClr val="14142B"/>
                </a:solidFill>
                <a:latin typeface="Calibri"/>
              </a:rPr>
              <a:t>Never fakes success</a:t>
            </a:r>
          </a:p>
          <a:p>
            <a:pPr algn="l">
              <a:spcAft>
                <a:spcPts val="200"/>
              </a:spcAft>
            </a:pPr>
            <a:r>
              <a:rPr sz="1200" b="0" i="0">
                <a:solidFill>
                  <a:srgbClr val="63637E"/>
                </a:solidFill>
                <a:latin typeface="Calibri"/>
              </a:rPr>
              <a:t>If it can’t confirm an action worked, it says so instead of saying “done”.</a:t>
            </a:r>
          </a:p>
        </p:txBody>
      </p:sp>
      <p:sp>
        <p:nvSpPr>
          <p:cNvPr id="146" name="Rounded Rectangle 145">
            <a:hlinkClick action="ppaction://hlinksldjump" r:id="rId8"/>
          </p:cNvPr>
          <p:cNvSpPr/>
          <p:nvPr/>
        </p:nvSpPr>
        <p:spPr>
          <a:xfrm>
            <a:off x="841248"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147" name="Rounded Rectangle 146">
            <a:hlinkClick action="ppaction://hlinksldjump" r:id="rId9"/>
          </p:cNvPr>
          <p:cNvSpPr/>
          <p:nvPr/>
        </p:nvSpPr>
        <p:spPr>
          <a:xfrm>
            <a:off x="2359151"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148" name="Rounded Rectangle 147"/>
          <p:cNvSpPr/>
          <p:nvPr/>
        </p:nvSpPr>
        <p:spPr>
          <a:xfrm>
            <a:off x="3877055" y="6464808"/>
            <a:ext cx="1408175"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Solution</a:t>
            </a:r>
          </a:p>
        </p:txBody>
      </p:sp>
      <p:sp>
        <p:nvSpPr>
          <p:cNvPr id="149" name="Rounded Rectangle 148">
            <a:hlinkClick action="ppaction://hlinksldjump" r:id="rId10"/>
          </p:cNvPr>
          <p:cNvSpPr/>
          <p:nvPr/>
        </p:nvSpPr>
        <p:spPr>
          <a:xfrm>
            <a:off x="5394959"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52" name="Rounded Rectangle 151">
            <a:hlinkClick action="ppaction://hlinksldjump" r:id="rId13"/>
          </p:cNvPr>
          <p:cNvSpPr/>
          <p:nvPr/>
        </p:nvSpPr>
        <p:spPr>
          <a:xfrm>
            <a:off x="6912863"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153" name="Rounded Rectangle 152">
            <a:hlinkClick action="ppaction://hlinksldjump" r:id="rId14"/>
          </p:cNvPr>
          <p:cNvSpPr/>
          <p:nvPr/>
        </p:nvSpPr>
        <p:spPr>
          <a:xfrm>
            <a:off x="8430767"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154" name="Rounded Rectangle 153">
            <a:hlinkClick action="ppaction://hlinksldjump" r:id="rId15"/>
          </p:cNvPr>
          <p:cNvSpPr/>
          <p:nvPr/>
        </p:nvSpPr>
        <p:spPr>
          <a:xfrm>
            <a:off x="9948671"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200" y="274320"/>
            <a:ext cx="10515600" cy="914400"/>
          </a:xfrm>
        </p:spPr>
        <p:txBody>
          <a:bodyPr/>
          <a:lstStyle/>
          <a:p>
            <a:pPr algn="l"/>
            <a:r>
              <a:rPr sz="3600" b="1" i="0">
                <a:solidFill>
                  <a:srgbClr val="704EA6"/>
                </a:solidFill>
                <a:latin typeface="Calibri"/>
              </a:rPr>
              <a:t>How it works, end to end</a:t>
            </a:r>
          </a:p>
        </p:txBody>
      </p:sp>
      <p:sp>
        <p:nvSpPr>
          <p:cNvPr id="3" name="Rounded Rectangle 2"/>
          <p:cNvSpPr/>
          <p:nvPr/>
        </p:nvSpPr>
        <p:spPr>
          <a:xfrm>
            <a:off x="822960" y="1024128"/>
            <a:ext cx="1463040" cy="237744"/>
          </a:xfrm>
          <a:prstGeom prst="roundRect">
            <a:avLst>
              <a:gd name="adj" fmla="val 50000"/>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00" b="1" i="0">
                <a:solidFill>
                  <a:srgbClr val="6D28D9"/>
                </a:solidFill>
                <a:latin typeface="Calibri"/>
              </a:rPr>
              <a:t>1  Hearing you</a:t>
            </a:r>
          </a:p>
        </p:txBody>
      </p:sp>
      <p:sp>
        <p:nvSpPr>
          <p:cNvPr id="4" name="Rounded Rectangle 3"/>
          <p:cNvSpPr/>
          <p:nvPr/>
        </p:nvSpPr>
        <p:spPr>
          <a:xfrm>
            <a:off x="8046720" y="1024128"/>
            <a:ext cx="3337560" cy="237744"/>
          </a:xfrm>
          <a:prstGeom prst="roundRect">
            <a:avLst>
              <a:gd name="adj" fmla="val 50000"/>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00" b="1" i="0">
                <a:solidFill>
                  <a:srgbClr val="6D28D9"/>
                </a:solidFill>
                <a:latin typeface="Calibri"/>
              </a:rPr>
              <a:t>2  Deciding and acting safely</a:t>
            </a:r>
          </a:p>
        </p:txBody>
      </p:sp>
      <p:sp>
        <p:nvSpPr>
          <p:cNvPr id="5" name="Rounded Rectangle 4"/>
          <p:cNvSpPr/>
          <p:nvPr/>
        </p:nvSpPr>
        <p:spPr>
          <a:xfrm>
            <a:off x="822960" y="3813048"/>
            <a:ext cx="1600200" cy="237744"/>
          </a:xfrm>
          <a:prstGeom prst="roundRect">
            <a:avLst>
              <a:gd name="adj" fmla="val 50000"/>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00" b="1" i="0">
                <a:solidFill>
                  <a:srgbClr val="6D28D9"/>
                </a:solidFill>
                <a:latin typeface="Calibri"/>
              </a:rPr>
              <a:t>3  Answering you</a:t>
            </a:r>
          </a:p>
        </p:txBody>
      </p:sp>
      <p:sp>
        <p:nvSpPr>
          <p:cNvPr id="6" name="Rounded Rectangle 5"/>
          <p:cNvSpPr/>
          <p:nvPr/>
        </p:nvSpPr>
        <p:spPr>
          <a:xfrm>
            <a:off x="822960" y="132588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60170" y="141732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ic.png"/>
          <p:cNvPicPr>
            <a:picLocks noChangeAspect="1"/>
          </p:cNvPicPr>
          <p:nvPr/>
        </p:nvPicPr>
        <p:blipFill>
          <a:blip r:embed="rId2"/>
          <a:stretch>
            <a:fillRect/>
          </a:stretch>
        </p:blipFill>
        <p:spPr>
          <a:xfrm>
            <a:off x="1451610" y="1508760"/>
            <a:ext cx="274320" cy="274320"/>
          </a:xfrm>
          <a:prstGeom prst="rect">
            <a:avLst/>
          </a:prstGeom>
        </p:spPr>
      </p:pic>
      <p:sp>
        <p:nvSpPr>
          <p:cNvPr id="9" name="TextBox 8"/>
          <p:cNvSpPr txBox="1"/>
          <p:nvPr/>
        </p:nvSpPr>
        <p:spPr>
          <a:xfrm>
            <a:off x="896112" y="1911095"/>
            <a:ext cx="1385316" cy="256032"/>
          </a:xfrm>
          <a:prstGeom prst="rect">
            <a:avLst/>
          </a:prstGeom>
          <a:noFill/>
        </p:spPr>
        <p:txBody>
          <a:bodyPr wrap="square" anchor="t" lIns="0" rIns="0" tIns="0" bIns="0"/>
          <a:lstStyle/>
          <a:p>
            <a:pPr algn="ctr"/>
            <a:r>
              <a:rPr sz="1200" b="1" i="0">
                <a:solidFill>
                  <a:srgbClr val="14142B"/>
                </a:solidFill>
                <a:latin typeface="Calibri"/>
              </a:rPr>
              <a:t>You speak</a:t>
            </a:r>
          </a:p>
        </p:txBody>
      </p:sp>
      <p:sp>
        <p:nvSpPr>
          <p:cNvPr id="10" name="TextBox 9"/>
          <p:cNvSpPr txBox="1"/>
          <p:nvPr/>
        </p:nvSpPr>
        <p:spPr>
          <a:xfrm>
            <a:off x="896112" y="2148840"/>
            <a:ext cx="1385316" cy="365760"/>
          </a:xfrm>
          <a:prstGeom prst="rect">
            <a:avLst/>
          </a:prstGeom>
          <a:noFill/>
        </p:spPr>
        <p:txBody>
          <a:bodyPr wrap="square" anchor="t" lIns="0" rIns="0" tIns="0" bIns="0"/>
          <a:lstStyle/>
          <a:p>
            <a:pPr algn="ctr"/>
            <a:r>
              <a:rPr sz="1000" b="0" i="0">
                <a:solidFill>
                  <a:srgbClr val="63637E"/>
                </a:solidFill>
                <a:latin typeface="Calibri"/>
              </a:rPr>
              <a:t>phone, laptop or a benchmark recording</a:t>
            </a:r>
          </a:p>
        </p:txBody>
      </p:sp>
      <p:sp>
        <p:nvSpPr>
          <p:cNvPr id="11" name="Rounded Rectangle 10"/>
          <p:cNvSpPr/>
          <p:nvPr/>
        </p:nvSpPr>
        <p:spPr>
          <a:xfrm>
            <a:off x="2628900" y="132588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66110" y="141732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adio-tower.png"/>
          <p:cNvPicPr>
            <a:picLocks noChangeAspect="1"/>
          </p:cNvPicPr>
          <p:nvPr/>
        </p:nvPicPr>
        <p:blipFill>
          <a:blip r:embed="rId3"/>
          <a:stretch>
            <a:fillRect/>
          </a:stretch>
        </p:blipFill>
        <p:spPr>
          <a:xfrm>
            <a:off x="3257550" y="1508760"/>
            <a:ext cx="274320" cy="274320"/>
          </a:xfrm>
          <a:prstGeom prst="rect">
            <a:avLst/>
          </a:prstGeom>
        </p:spPr>
      </p:pic>
      <p:sp>
        <p:nvSpPr>
          <p:cNvPr id="14" name="TextBox 13"/>
          <p:cNvSpPr txBox="1"/>
          <p:nvPr/>
        </p:nvSpPr>
        <p:spPr>
          <a:xfrm>
            <a:off x="2702052" y="1911095"/>
            <a:ext cx="1385316" cy="256032"/>
          </a:xfrm>
          <a:prstGeom prst="rect">
            <a:avLst/>
          </a:prstGeom>
          <a:noFill/>
        </p:spPr>
        <p:txBody>
          <a:bodyPr wrap="square" anchor="t" lIns="0" rIns="0" tIns="0" bIns="0"/>
          <a:lstStyle/>
          <a:p>
            <a:pPr algn="ctr"/>
            <a:r>
              <a:rPr sz="1200" b="1" i="0">
                <a:solidFill>
                  <a:srgbClr val="14142B"/>
                </a:solidFill>
                <a:latin typeface="Calibri"/>
              </a:rPr>
              <a:t>LiveKit</a:t>
            </a:r>
          </a:p>
        </p:txBody>
      </p:sp>
      <p:sp>
        <p:nvSpPr>
          <p:cNvPr id="15" name="TextBox 14"/>
          <p:cNvSpPr txBox="1"/>
          <p:nvPr/>
        </p:nvSpPr>
        <p:spPr>
          <a:xfrm>
            <a:off x="2702052" y="2148840"/>
            <a:ext cx="1385316" cy="365760"/>
          </a:xfrm>
          <a:prstGeom prst="rect">
            <a:avLst/>
          </a:prstGeom>
          <a:noFill/>
        </p:spPr>
        <p:txBody>
          <a:bodyPr wrap="square" anchor="t" lIns="0" rIns="0" tIns="0" bIns="0"/>
          <a:lstStyle/>
          <a:p>
            <a:pPr algn="ctr"/>
            <a:r>
              <a:rPr sz="1000" b="0" i="0">
                <a:solidFill>
                  <a:srgbClr val="63637E"/>
                </a:solidFill>
                <a:latin typeface="Calibri"/>
              </a:rPr>
              <a:t>live audio room in the cloud</a:t>
            </a:r>
          </a:p>
        </p:txBody>
      </p:sp>
      <p:sp>
        <p:nvSpPr>
          <p:cNvPr id="16" name="Rounded Rectangle 15"/>
          <p:cNvSpPr/>
          <p:nvPr/>
        </p:nvSpPr>
        <p:spPr>
          <a:xfrm>
            <a:off x="4434840" y="132588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72050" y="141732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ear.png"/>
          <p:cNvPicPr>
            <a:picLocks noChangeAspect="1"/>
          </p:cNvPicPr>
          <p:nvPr/>
        </p:nvPicPr>
        <p:blipFill>
          <a:blip r:embed="rId4"/>
          <a:stretch>
            <a:fillRect/>
          </a:stretch>
        </p:blipFill>
        <p:spPr>
          <a:xfrm>
            <a:off x="5063490" y="1508760"/>
            <a:ext cx="274320" cy="274320"/>
          </a:xfrm>
          <a:prstGeom prst="rect">
            <a:avLst/>
          </a:prstGeom>
        </p:spPr>
      </p:pic>
      <p:sp>
        <p:nvSpPr>
          <p:cNvPr id="19" name="TextBox 18"/>
          <p:cNvSpPr txBox="1"/>
          <p:nvPr/>
        </p:nvSpPr>
        <p:spPr>
          <a:xfrm>
            <a:off x="4507992" y="1911095"/>
            <a:ext cx="1385316" cy="256032"/>
          </a:xfrm>
          <a:prstGeom prst="rect">
            <a:avLst/>
          </a:prstGeom>
          <a:noFill/>
        </p:spPr>
        <p:txBody>
          <a:bodyPr wrap="square" anchor="t" lIns="0" rIns="0" tIns="0" bIns="0"/>
          <a:lstStyle/>
          <a:p>
            <a:pPr algn="ctr"/>
            <a:r>
              <a:rPr sz="1200" b="1" i="0">
                <a:solidFill>
                  <a:srgbClr val="14142B"/>
                </a:solidFill>
                <a:latin typeface="Calibri"/>
              </a:rPr>
              <a:t>Listening</a:t>
            </a:r>
          </a:p>
        </p:txBody>
      </p:sp>
      <p:sp>
        <p:nvSpPr>
          <p:cNvPr id="20" name="TextBox 19"/>
          <p:cNvSpPr txBox="1"/>
          <p:nvPr/>
        </p:nvSpPr>
        <p:spPr>
          <a:xfrm>
            <a:off x="4507992" y="2148840"/>
            <a:ext cx="1385316" cy="365760"/>
          </a:xfrm>
          <a:prstGeom prst="rect">
            <a:avLst/>
          </a:prstGeom>
          <a:noFill/>
        </p:spPr>
        <p:txBody>
          <a:bodyPr wrap="square" anchor="t" lIns="0" rIns="0" tIns="0" bIns="0"/>
          <a:lstStyle/>
          <a:p>
            <a:pPr algn="ctr"/>
            <a:r>
              <a:rPr sz="1000" b="0" i="0">
                <a:solidFill>
                  <a:srgbClr val="63637E"/>
                </a:solidFill>
                <a:latin typeface="Calibri"/>
              </a:rPr>
              <a:t>spots when you start and stop talking</a:t>
            </a:r>
          </a:p>
        </p:txBody>
      </p:sp>
      <p:sp>
        <p:nvSpPr>
          <p:cNvPr id="21" name="Rounded Rectangle 20"/>
          <p:cNvSpPr/>
          <p:nvPr/>
        </p:nvSpPr>
        <p:spPr>
          <a:xfrm>
            <a:off x="6240780" y="132588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77990" y="141732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ile-text.png"/>
          <p:cNvPicPr>
            <a:picLocks noChangeAspect="1"/>
          </p:cNvPicPr>
          <p:nvPr/>
        </p:nvPicPr>
        <p:blipFill>
          <a:blip r:embed="rId5"/>
          <a:stretch>
            <a:fillRect/>
          </a:stretch>
        </p:blipFill>
        <p:spPr>
          <a:xfrm>
            <a:off x="6869430" y="1508760"/>
            <a:ext cx="274320" cy="274320"/>
          </a:xfrm>
          <a:prstGeom prst="rect">
            <a:avLst/>
          </a:prstGeom>
        </p:spPr>
      </p:pic>
      <p:sp>
        <p:nvSpPr>
          <p:cNvPr id="24" name="TextBox 23"/>
          <p:cNvSpPr txBox="1"/>
          <p:nvPr/>
        </p:nvSpPr>
        <p:spPr>
          <a:xfrm>
            <a:off x="6313932" y="1911095"/>
            <a:ext cx="1385316" cy="256032"/>
          </a:xfrm>
          <a:prstGeom prst="rect">
            <a:avLst/>
          </a:prstGeom>
          <a:noFill/>
        </p:spPr>
        <p:txBody>
          <a:bodyPr wrap="square" anchor="t" lIns="0" rIns="0" tIns="0" bIns="0"/>
          <a:lstStyle/>
          <a:p>
            <a:pPr algn="ctr"/>
            <a:r>
              <a:rPr sz="1200" b="1" i="0">
                <a:solidFill>
                  <a:srgbClr val="14142B"/>
                </a:solidFill>
                <a:latin typeface="Calibri"/>
              </a:rPr>
              <a:t>Speech-to-text</a:t>
            </a:r>
          </a:p>
        </p:txBody>
      </p:sp>
      <p:sp>
        <p:nvSpPr>
          <p:cNvPr id="25" name="TextBox 24"/>
          <p:cNvSpPr txBox="1"/>
          <p:nvPr/>
        </p:nvSpPr>
        <p:spPr>
          <a:xfrm>
            <a:off x="6313932" y="2148840"/>
            <a:ext cx="1385316" cy="365760"/>
          </a:xfrm>
          <a:prstGeom prst="rect">
            <a:avLst/>
          </a:prstGeom>
          <a:noFill/>
        </p:spPr>
        <p:txBody>
          <a:bodyPr wrap="square" anchor="t" lIns="0" rIns="0" tIns="0" bIns="0"/>
          <a:lstStyle/>
          <a:p>
            <a:pPr algn="ctr"/>
            <a:r>
              <a:rPr sz="1000" b="0" i="0">
                <a:solidFill>
                  <a:srgbClr val="63637E"/>
                </a:solidFill>
                <a:latin typeface="Calibri"/>
              </a:rPr>
              <a:t>Whisper · faster-whisper</a:t>
            </a:r>
          </a:p>
        </p:txBody>
      </p:sp>
      <p:sp>
        <p:nvSpPr>
          <p:cNvPr id="26" name="Rounded Rectangle 25"/>
          <p:cNvSpPr/>
          <p:nvPr/>
        </p:nvSpPr>
        <p:spPr>
          <a:xfrm>
            <a:off x="8046720" y="1325880"/>
            <a:ext cx="1531620" cy="1188720"/>
          </a:xfrm>
          <a:prstGeom prst="roundRect">
            <a:avLst>
              <a:gd name="adj" fmla="val 12000"/>
            </a:avLst>
          </a:prstGeom>
          <a:solidFill>
            <a:srgbClr val="FFFFFF"/>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583930" y="141732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brain.png"/>
          <p:cNvPicPr>
            <a:picLocks noChangeAspect="1"/>
          </p:cNvPicPr>
          <p:nvPr/>
        </p:nvPicPr>
        <p:blipFill>
          <a:blip r:embed="rId6"/>
          <a:stretch>
            <a:fillRect/>
          </a:stretch>
        </p:blipFill>
        <p:spPr>
          <a:xfrm>
            <a:off x="8675370" y="1508760"/>
            <a:ext cx="274320" cy="274320"/>
          </a:xfrm>
          <a:prstGeom prst="rect">
            <a:avLst/>
          </a:prstGeom>
        </p:spPr>
      </p:pic>
      <p:sp>
        <p:nvSpPr>
          <p:cNvPr id="29" name="TextBox 28"/>
          <p:cNvSpPr txBox="1"/>
          <p:nvPr/>
        </p:nvSpPr>
        <p:spPr>
          <a:xfrm>
            <a:off x="8119872" y="1911095"/>
            <a:ext cx="1385316" cy="256032"/>
          </a:xfrm>
          <a:prstGeom prst="rect">
            <a:avLst/>
          </a:prstGeom>
          <a:noFill/>
        </p:spPr>
        <p:txBody>
          <a:bodyPr wrap="square" anchor="t" lIns="0" rIns="0" tIns="0" bIns="0"/>
          <a:lstStyle/>
          <a:p>
            <a:pPr algn="ctr"/>
            <a:r>
              <a:rPr sz="1200" b="1" i="0">
                <a:solidFill>
                  <a:srgbClr val="14142B"/>
                </a:solidFill>
                <a:latin typeface="Calibri"/>
              </a:rPr>
              <a:t>Language model</a:t>
            </a:r>
          </a:p>
        </p:txBody>
      </p:sp>
      <p:sp>
        <p:nvSpPr>
          <p:cNvPr id="30" name="TextBox 29"/>
          <p:cNvSpPr txBox="1"/>
          <p:nvPr/>
        </p:nvSpPr>
        <p:spPr>
          <a:xfrm>
            <a:off x="8119872" y="2148840"/>
            <a:ext cx="1385316" cy="365760"/>
          </a:xfrm>
          <a:prstGeom prst="rect">
            <a:avLst/>
          </a:prstGeom>
          <a:noFill/>
        </p:spPr>
        <p:txBody>
          <a:bodyPr wrap="square" anchor="t" lIns="0" rIns="0" tIns="0" bIns="0"/>
          <a:lstStyle/>
          <a:p>
            <a:pPr algn="ctr"/>
            <a:r>
              <a:rPr sz="1000" b="0" i="0">
                <a:solidFill>
                  <a:srgbClr val="63637E"/>
                </a:solidFill>
                <a:latin typeface="Calibri"/>
              </a:rPr>
              <a:t>GPT-4o · Gemini Live · Qwen3</a:t>
            </a:r>
          </a:p>
        </p:txBody>
      </p:sp>
      <p:cxnSp>
        <p:nvCxnSpPr>
          <p:cNvPr id="31" name="Connector 30"/>
          <p:cNvCxnSpPr/>
          <p:nvPr/>
        </p:nvCxnSpPr>
        <p:spPr>
          <a:xfrm>
            <a:off x="2372868" y="1920240"/>
            <a:ext cx="237744" cy="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178807" y="1920240"/>
            <a:ext cx="237745" cy="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984748" y="1920240"/>
            <a:ext cx="237744" cy="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790688" y="1920240"/>
            <a:ext cx="237744" cy="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852660" y="1325880"/>
            <a:ext cx="1531620" cy="2514600"/>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389870" y="1417320"/>
            <a:ext cx="457200" cy="457200"/>
          </a:xfrm>
          <a:prstGeom prst="ellipse">
            <a:avLst/>
          </a:prstGeom>
          <a:solidFill>
            <a:srgbClr val="8B5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shield-check.png"/>
          <p:cNvPicPr>
            <a:picLocks noChangeAspect="1"/>
          </p:cNvPicPr>
          <p:nvPr/>
        </p:nvPicPr>
        <p:blipFill>
          <a:blip r:embed="rId7"/>
          <a:stretch>
            <a:fillRect/>
          </a:stretch>
        </p:blipFill>
        <p:spPr>
          <a:xfrm>
            <a:off x="10481310" y="1508760"/>
            <a:ext cx="274320" cy="274320"/>
          </a:xfrm>
          <a:prstGeom prst="rect">
            <a:avLst/>
          </a:prstGeom>
        </p:spPr>
      </p:pic>
      <p:sp>
        <p:nvSpPr>
          <p:cNvPr id="38" name="TextBox 37"/>
          <p:cNvSpPr txBox="1"/>
          <p:nvPr/>
        </p:nvSpPr>
        <p:spPr>
          <a:xfrm>
            <a:off x="9925812" y="1911095"/>
            <a:ext cx="1385316" cy="256032"/>
          </a:xfrm>
          <a:prstGeom prst="rect">
            <a:avLst/>
          </a:prstGeom>
          <a:noFill/>
        </p:spPr>
        <p:txBody>
          <a:bodyPr wrap="square" anchor="t" lIns="0" rIns="0" tIns="0" bIns="0"/>
          <a:lstStyle/>
          <a:p>
            <a:pPr algn="ctr"/>
            <a:r>
              <a:rPr sz="1300" b="1" i="0">
                <a:solidFill>
                  <a:srgbClr val="FFFFFF"/>
                </a:solidFill>
                <a:latin typeface="Calibri"/>
              </a:rPr>
              <a:t>Keel</a:t>
            </a:r>
          </a:p>
        </p:txBody>
      </p:sp>
      <p:sp>
        <p:nvSpPr>
          <p:cNvPr id="39" name="TextBox 38"/>
          <p:cNvSpPr txBox="1"/>
          <p:nvPr/>
        </p:nvSpPr>
        <p:spPr>
          <a:xfrm>
            <a:off x="9962388" y="2221991"/>
            <a:ext cx="1312164" cy="1554480"/>
          </a:xfrm>
          <a:prstGeom prst="rect">
            <a:avLst/>
          </a:prstGeom>
          <a:noFill/>
        </p:spPr>
        <p:txBody>
          <a:bodyPr wrap="square" anchor="t" lIns="0" rIns="0" tIns="0" bIns="0"/>
          <a:lstStyle/>
          <a:p>
            <a:pPr algn="l">
              <a:spcAft>
                <a:spcPts val="500"/>
              </a:spcAft>
            </a:pPr>
            <a:r>
              <a:rPr sz="1000" b="0" i="0">
                <a:solidFill>
                  <a:srgbClr val="FFFFFF"/>
                </a:solidFill>
                <a:latin typeface="Calibri"/>
              </a:rPr>
              <a:t>Still talking → wait</a:t>
            </a:r>
          </a:p>
          <a:p>
            <a:pPr algn="l">
              <a:spcAft>
                <a:spcPts val="500"/>
              </a:spcAft>
            </a:pPr>
            <a:r>
              <a:rPr sz="1000" b="0" i="0">
                <a:solidFill>
                  <a:srgbClr val="FFFFFF"/>
                </a:solidFill>
                <a:latin typeface="Calibri"/>
              </a:rPr>
              <a:t>Changed your mind → drop it</a:t>
            </a:r>
          </a:p>
          <a:p>
            <a:pPr algn="l">
              <a:spcAft>
                <a:spcPts val="500"/>
              </a:spcAft>
            </a:pPr>
            <a:r>
              <a:rPr sz="1000" b="0" i="0">
                <a:solidFill>
                  <a:srgbClr val="FFFFFF"/>
                </a:solidFill>
                <a:latin typeface="Calibri"/>
              </a:rPr>
              <a:t>Asked before → reuse the answer</a:t>
            </a:r>
          </a:p>
          <a:p>
            <a:pPr algn="l">
              <a:spcAft>
                <a:spcPts val="500"/>
              </a:spcAft>
            </a:pPr>
            <a:r>
              <a:rPr sz="1000" b="0" i="0">
                <a:solidFill>
                  <a:srgbClr val="FFFFFF"/>
                </a:solidFill>
                <a:latin typeface="Calibri"/>
              </a:rPr>
              <a:t>Can’t confirm → say so</a:t>
            </a:r>
          </a:p>
        </p:txBody>
      </p:sp>
      <p:cxnSp>
        <p:nvCxnSpPr>
          <p:cNvPr id="40" name="Connector 39"/>
          <p:cNvCxnSpPr/>
          <p:nvPr/>
        </p:nvCxnSpPr>
        <p:spPr>
          <a:xfrm>
            <a:off x="9596628" y="1920240"/>
            <a:ext cx="237744" cy="0"/>
          </a:xfrm>
          <a:prstGeom prst="line">
            <a:avLst/>
          </a:prstGeom>
          <a:ln w="22225">
            <a:solidFill>
              <a:srgbClr val="6D28D9"/>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852660" y="420624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389870" y="4297679"/>
            <a:ext cx="457200" cy="457200"/>
          </a:xfrm>
          <a:prstGeom prst="ellipse">
            <a:avLst/>
          </a:prstGeom>
          <a:solidFill>
            <a:srgbClr val="E3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wrench.png"/>
          <p:cNvPicPr>
            <a:picLocks noChangeAspect="1"/>
          </p:cNvPicPr>
          <p:nvPr/>
        </p:nvPicPr>
        <p:blipFill>
          <a:blip r:embed="rId8"/>
          <a:stretch>
            <a:fillRect/>
          </a:stretch>
        </p:blipFill>
        <p:spPr>
          <a:xfrm>
            <a:off x="10481310" y="4389119"/>
            <a:ext cx="274320" cy="274320"/>
          </a:xfrm>
          <a:prstGeom prst="rect">
            <a:avLst/>
          </a:prstGeom>
        </p:spPr>
      </p:pic>
      <p:sp>
        <p:nvSpPr>
          <p:cNvPr id="44" name="TextBox 43"/>
          <p:cNvSpPr txBox="1"/>
          <p:nvPr/>
        </p:nvSpPr>
        <p:spPr>
          <a:xfrm>
            <a:off x="9925812" y="4791455"/>
            <a:ext cx="1385316" cy="256032"/>
          </a:xfrm>
          <a:prstGeom prst="rect">
            <a:avLst/>
          </a:prstGeom>
          <a:noFill/>
        </p:spPr>
        <p:txBody>
          <a:bodyPr wrap="square" anchor="t" lIns="0" rIns="0" tIns="0" bIns="0"/>
          <a:lstStyle/>
          <a:p>
            <a:pPr algn="ctr"/>
            <a:r>
              <a:rPr sz="1200" b="1" i="0">
                <a:solidFill>
                  <a:srgbClr val="14142B"/>
                </a:solidFill>
                <a:latin typeface="Calibri"/>
              </a:rPr>
              <a:t>Tools</a:t>
            </a:r>
          </a:p>
        </p:txBody>
      </p:sp>
      <p:sp>
        <p:nvSpPr>
          <p:cNvPr id="45" name="TextBox 44"/>
          <p:cNvSpPr txBox="1"/>
          <p:nvPr/>
        </p:nvSpPr>
        <p:spPr>
          <a:xfrm>
            <a:off x="9925812" y="5029200"/>
            <a:ext cx="1385316" cy="365760"/>
          </a:xfrm>
          <a:prstGeom prst="rect">
            <a:avLst/>
          </a:prstGeom>
          <a:noFill/>
        </p:spPr>
        <p:txBody>
          <a:bodyPr wrap="square" anchor="t" lIns="0" rIns="0" tIns="0" bIns="0"/>
          <a:lstStyle/>
          <a:p>
            <a:pPr algn="ctr"/>
            <a:r>
              <a:rPr sz="1000" b="0" i="0">
                <a:solidFill>
                  <a:srgbClr val="63637E"/>
                </a:solidFill>
                <a:latin typeface="Calibri"/>
              </a:rPr>
              <a:t>flights, orders, bills… or the washer helper</a:t>
            </a:r>
          </a:p>
        </p:txBody>
      </p:sp>
      <p:cxnSp>
        <p:nvCxnSpPr>
          <p:cNvPr id="46" name="Connector 45"/>
          <p:cNvCxnSpPr/>
          <p:nvPr/>
        </p:nvCxnSpPr>
        <p:spPr>
          <a:xfrm>
            <a:off x="10618470" y="3867912"/>
            <a:ext cx="0" cy="310896"/>
          </a:xfrm>
          <a:prstGeom prst="line">
            <a:avLst/>
          </a:prstGeom>
          <a:ln w="22225">
            <a:solidFill>
              <a:srgbClr val="6D28D9"/>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887968" y="3858768"/>
            <a:ext cx="1639062" cy="365760"/>
          </a:xfrm>
          <a:prstGeom prst="rect">
            <a:avLst/>
          </a:prstGeom>
          <a:noFill/>
        </p:spPr>
        <p:txBody>
          <a:bodyPr wrap="square" anchor="t" lIns="0" rIns="0" tIns="0" bIns="0"/>
          <a:lstStyle/>
          <a:p>
            <a:pPr algn="r"/>
            <a:r>
              <a:rPr sz="950" b="0" i="1">
                <a:solidFill>
                  <a:srgbClr val="6D28D9"/>
                </a:solidFill>
                <a:latin typeface="Calibri"/>
              </a:rPr>
              <a:t>runs only when safe;</a:t>
            </a:r>
          </a:p>
          <a:p>
            <a:pPr algn="r"/>
            <a:r>
              <a:rPr sz="950" b="0" i="1">
                <a:solidFill>
                  <a:srgbClr val="6D28D9"/>
                </a:solidFill>
                <a:latin typeface="Calibri"/>
              </a:rPr>
              <a:t>result back to the model</a:t>
            </a:r>
          </a:p>
        </p:txBody>
      </p:sp>
      <p:sp>
        <p:nvSpPr>
          <p:cNvPr id="48" name="Rounded Rectangle 47"/>
          <p:cNvSpPr/>
          <p:nvPr/>
        </p:nvSpPr>
        <p:spPr>
          <a:xfrm>
            <a:off x="8046720" y="411480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583930" y="420624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volume-2.png"/>
          <p:cNvPicPr>
            <a:picLocks noChangeAspect="1"/>
          </p:cNvPicPr>
          <p:nvPr/>
        </p:nvPicPr>
        <p:blipFill>
          <a:blip r:embed="rId9"/>
          <a:stretch>
            <a:fillRect/>
          </a:stretch>
        </p:blipFill>
        <p:spPr>
          <a:xfrm>
            <a:off x="8675370" y="4297679"/>
            <a:ext cx="274320" cy="274320"/>
          </a:xfrm>
          <a:prstGeom prst="rect">
            <a:avLst/>
          </a:prstGeom>
        </p:spPr>
      </p:pic>
      <p:sp>
        <p:nvSpPr>
          <p:cNvPr id="51" name="TextBox 50"/>
          <p:cNvSpPr txBox="1"/>
          <p:nvPr/>
        </p:nvSpPr>
        <p:spPr>
          <a:xfrm>
            <a:off x="8119872" y="4700016"/>
            <a:ext cx="1385316" cy="256032"/>
          </a:xfrm>
          <a:prstGeom prst="rect">
            <a:avLst/>
          </a:prstGeom>
          <a:noFill/>
        </p:spPr>
        <p:txBody>
          <a:bodyPr wrap="square" anchor="t" lIns="0" rIns="0" tIns="0" bIns="0"/>
          <a:lstStyle/>
          <a:p>
            <a:pPr algn="ctr"/>
            <a:r>
              <a:rPr sz="1200" b="1" i="0">
                <a:solidFill>
                  <a:srgbClr val="14142B"/>
                </a:solidFill>
                <a:latin typeface="Calibri"/>
              </a:rPr>
              <a:t>Text-to-speech</a:t>
            </a:r>
          </a:p>
        </p:txBody>
      </p:sp>
      <p:sp>
        <p:nvSpPr>
          <p:cNvPr id="52" name="TextBox 51"/>
          <p:cNvSpPr txBox="1"/>
          <p:nvPr/>
        </p:nvSpPr>
        <p:spPr>
          <a:xfrm>
            <a:off x="8119872" y="4937760"/>
            <a:ext cx="1385316" cy="365760"/>
          </a:xfrm>
          <a:prstGeom prst="rect">
            <a:avLst/>
          </a:prstGeom>
          <a:noFill/>
        </p:spPr>
        <p:txBody>
          <a:bodyPr wrap="square" anchor="t" lIns="0" rIns="0" tIns="0" bIns="0"/>
          <a:lstStyle/>
          <a:p>
            <a:pPr algn="ctr"/>
            <a:r>
              <a:rPr sz="1000" b="0" i="0">
                <a:solidFill>
                  <a:srgbClr val="63637E"/>
                </a:solidFill>
                <a:latin typeface="Calibri"/>
              </a:rPr>
              <a:t>OpenAI TTS · Kokoro</a:t>
            </a:r>
          </a:p>
        </p:txBody>
      </p:sp>
      <p:cxnSp>
        <p:nvCxnSpPr>
          <p:cNvPr id="53" name="Connector 52"/>
          <p:cNvCxnSpPr/>
          <p:nvPr/>
        </p:nvCxnSpPr>
        <p:spPr>
          <a:xfrm>
            <a:off x="8812530" y="2532888"/>
            <a:ext cx="0" cy="1563624"/>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8885682" y="2587752"/>
            <a:ext cx="822960" cy="256032"/>
          </a:xfrm>
          <a:prstGeom prst="rect">
            <a:avLst/>
          </a:prstGeom>
          <a:noFill/>
        </p:spPr>
        <p:txBody>
          <a:bodyPr wrap="square" anchor="t" lIns="0" rIns="0" tIns="0" bIns="0"/>
          <a:lstStyle/>
          <a:p>
            <a:pPr algn="l"/>
            <a:r>
              <a:rPr sz="1050" b="0" i="1">
                <a:solidFill>
                  <a:srgbClr val="6D28D9"/>
                </a:solidFill>
                <a:latin typeface="Calibri"/>
              </a:rPr>
              <a:t>reply</a:t>
            </a:r>
          </a:p>
        </p:txBody>
      </p:sp>
      <p:sp>
        <p:nvSpPr>
          <p:cNvPr id="55" name="Rounded Rectangle 54"/>
          <p:cNvSpPr/>
          <p:nvPr/>
        </p:nvSpPr>
        <p:spPr>
          <a:xfrm>
            <a:off x="2628900" y="411480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166110" y="420624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radio-tower.png"/>
          <p:cNvPicPr>
            <a:picLocks noChangeAspect="1"/>
          </p:cNvPicPr>
          <p:nvPr/>
        </p:nvPicPr>
        <p:blipFill>
          <a:blip r:embed="rId3"/>
          <a:stretch>
            <a:fillRect/>
          </a:stretch>
        </p:blipFill>
        <p:spPr>
          <a:xfrm>
            <a:off x="3257550" y="4297679"/>
            <a:ext cx="274320" cy="274320"/>
          </a:xfrm>
          <a:prstGeom prst="rect">
            <a:avLst/>
          </a:prstGeom>
        </p:spPr>
      </p:pic>
      <p:sp>
        <p:nvSpPr>
          <p:cNvPr id="58" name="TextBox 57"/>
          <p:cNvSpPr txBox="1"/>
          <p:nvPr/>
        </p:nvSpPr>
        <p:spPr>
          <a:xfrm>
            <a:off x="2702052" y="4700016"/>
            <a:ext cx="1385316" cy="256032"/>
          </a:xfrm>
          <a:prstGeom prst="rect">
            <a:avLst/>
          </a:prstGeom>
          <a:noFill/>
        </p:spPr>
        <p:txBody>
          <a:bodyPr wrap="square" anchor="t" lIns="0" rIns="0" tIns="0" bIns="0"/>
          <a:lstStyle/>
          <a:p>
            <a:pPr algn="ctr"/>
            <a:r>
              <a:rPr sz="1200" b="1" i="0">
                <a:solidFill>
                  <a:srgbClr val="14142B"/>
                </a:solidFill>
                <a:latin typeface="Calibri"/>
              </a:rPr>
              <a:t>LiveKit</a:t>
            </a:r>
          </a:p>
        </p:txBody>
      </p:sp>
      <p:sp>
        <p:nvSpPr>
          <p:cNvPr id="59" name="TextBox 58"/>
          <p:cNvSpPr txBox="1"/>
          <p:nvPr/>
        </p:nvSpPr>
        <p:spPr>
          <a:xfrm>
            <a:off x="2702052" y="4937760"/>
            <a:ext cx="1385316" cy="365760"/>
          </a:xfrm>
          <a:prstGeom prst="rect">
            <a:avLst/>
          </a:prstGeom>
          <a:noFill/>
        </p:spPr>
        <p:txBody>
          <a:bodyPr wrap="square" anchor="t" lIns="0" rIns="0" tIns="0" bIns="0"/>
          <a:lstStyle/>
          <a:p>
            <a:pPr algn="ctr"/>
            <a:r>
              <a:rPr sz="1000" b="0" i="0">
                <a:solidFill>
                  <a:srgbClr val="63637E"/>
                </a:solidFill>
                <a:latin typeface="Calibri"/>
              </a:rPr>
              <a:t>streams the voice back</a:t>
            </a:r>
          </a:p>
        </p:txBody>
      </p:sp>
      <p:cxnSp>
        <p:nvCxnSpPr>
          <p:cNvPr id="60" name="Connector 59"/>
          <p:cNvCxnSpPr/>
          <p:nvPr/>
        </p:nvCxnSpPr>
        <p:spPr>
          <a:xfrm flipH="1">
            <a:off x="4178807" y="4709160"/>
            <a:ext cx="3849625" cy="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822960" y="4114800"/>
            <a:ext cx="1531620" cy="1188720"/>
          </a:xfrm>
          <a:prstGeom prst="roundRect">
            <a:avLst>
              <a:gd name="adj" fmla="val 12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360170" y="420624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headphones.png"/>
          <p:cNvPicPr>
            <a:picLocks noChangeAspect="1"/>
          </p:cNvPicPr>
          <p:nvPr/>
        </p:nvPicPr>
        <p:blipFill>
          <a:blip r:embed="rId10"/>
          <a:stretch>
            <a:fillRect/>
          </a:stretch>
        </p:blipFill>
        <p:spPr>
          <a:xfrm>
            <a:off x="1451610" y="4297679"/>
            <a:ext cx="274320" cy="274320"/>
          </a:xfrm>
          <a:prstGeom prst="rect">
            <a:avLst/>
          </a:prstGeom>
        </p:spPr>
      </p:pic>
      <p:sp>
        <p:nvSpPr>
          <p:cNvPr id="64" name="TextBox 63"/>
          <p:cNvSpPr txBox="1"/>
          <p:nvPr/>
        </p:nvSpPr>
        <p:spPr>
          <a:xfrm>
            <a:off x="896112" y="4700016"/>
            <a:ext cx="1385316" cy="256032"/>
          </a:xfrm>
          <a:prstGeom prst="rect">
            <a:avLst/>
          </a:prstGeom>
          <a:noFill/>
        </p:spPr>
        <p:txBody>
          <a:bodyPr wrap="square" anchor="t" lIns="0" rIns="0" tIns="0" bIns="0"/>
          <a:lstStyle/>
          <a:p>
            <a:pPr algn="ctr"/>
            <a:r>
              <a:rPr sz="1200" b="1" i="0">
                <a:solidFill>
                  <a:srgbClr val="14142B"/>
                </a:solidFill>
                <a:latin typeface="Calibri"/>
              </a:rPr>
              <a:t>You hear it</a:t>
            </a:r>
          </a:p>
        </p:txBody>
      </p:sp>
      <p:sp>
        <p:nvSpPr>
          <p:cNvPr id="65" name="TextBox 64"/>
          <p:cNvSpPr txBox="1"/>
          <p:nvPr/>
        </p:nvSpPr>
        <p:spPr>
          <a:xfrm>
            <a:off x="896112" y="4937760"/>
            <a:ext cx="1385316" cy="365760"/>
          </a:xfrm>
          <a:prstGeom prst="rect">
            <a:avLst/>
          </a:prstGeom>
          <a:noFill/>
        </p:spPr>
        <p:txBody>
          <a:bodyPr wrap="square" anchor="t" lIns="0" rIns="0" tIns="0" bIns="0"/>
          <a:lstStyle/>
          <a:p>
            <a:pPr algn="ctr"/>
            <a:r>
              <a:rPr sz="1000" b="0" i="0">
                <a:solidFill>
                  <a:srgbClr val="63637E"/>
                </a:solidFill>
                <a:latin typeface="Calibri"/>
              </a:rPr>
              <a:t>and can interrupt at any time</a:t>
            </a:r>
          </a:p>
        </p:txBody>
      </p:sp>
      <p:cxnSp>
        <p:nvCxnSpPr>
          <p:cNvPr id="66" name="Connector 65"/>
          <p:cNvCxnSpPr/>
          <p:nvPr/>
        </p:nvCxnSpPr>
        <p:spPr>
          <a:xfrm flipH="1">
            <a:off x="2372868" y="4709160"/>
            <a:ext cx="237744" cy="0"/>
          </a:xfrm>
          <a:prstGeom prst="line">
            <a:avLst/>
          </a:prstGeom>
          <a:ln w="22225">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394710" y="2532888"/>
            <a:ext cx="0" cy="1563624"/>
          </a:xfrm>
          <a:prstGeom prst="line">
            <a:avLst/>
          </a:prstGeom>
          <a:ln w="15875">
            <a:solidFill>
              <a:srgbClr val="9A9AB0"/>
            </a:solidFill>
            <a:prstDash val="dash"/>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467862" y="3429000"/>
            <a:ext cx="1188720" cy="457200"/>
          </a:xfrm>
          <a:prstGeom prst="rect">
            <a:avLst/>
          </a:prstGeom>
          <a:noFill/>
        </p:spPr>
        <p:txBody>
          <a:bodyPr wrap="square" anchor="t" lIns="0" rIns="0" tIns="0" bIns="0"/>
          <a:lstStyle/>
          <a:p>
            <a:pPr algn="l"/>
            <a:r>
              <a:rPr sz="1000" b="0" i="1">
                <a:solidFill>
                  <a:srgbClr val="9A9AB0"/>
                </a:solidFill>
                <a:latin typeface="Calibri"/>
              </a:rPr>
              <a:t>one live room, both directions</a:t>
            </a:r>
          </a:p>
        </p:txBody>
      </p:sp>
      <p:cxnSp>
        <p:nvCxnSpPr>
          <p:cNvPr id="69" name="Connector 68"/>
          <p:cNvCxnSpPr/>
          <p:nvPr/>
        </p:nvCxnSpPr>
        <p:spPr>
          <a:xfrm>
            <a:off x="5200650" y="2532888"/>
            <a:ext cx="0" cy="758952"/>
          </a:xfrm>
          <a:prstGeom prst="line">
            <a:avLst/>
          </a:prstGeom>
          <a:ln w="19050">
            <a:solidFill>
              <a:srgbClr val="B45309"/>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200650" y="3291840"/>
            <a:ext cx="4633722" cy="0"/>
          </a:xfrm>
          <a:prstGeom prst="line">
            <a:avLst/>
          </a:prstGeom>
          <a:ln w="19050">
            <a:solidFill>
              <a:srgbClr val="B4530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292090" y="3017520"/>
            <a:ext cx="3291840" cy="256032"/>
          </a:xfrm>
          <a:prstGeom prst="rect">
            <a:avLst/>
          </a:prstGeom>
          <a:noFill/>
        </p:spPr>
        <p:txBody>
          <a:bodyPr wrap="square" anchor="t" lIns="0" rIns="0" tIns="0" bIns="0"/>
          <a:lstStyle/>
          <a:p>
            <a:pPr algn="l"/>
            <a:r>
              <a:rPr sz="1150" b="1" i="1">
                <a:solidFill>
                  <a:srgbClr val="B45309"/>
                </a:solidFill>
                <a:latin typeface="Calibri"/>
              </a:rPr>
              <a:t>“Is the user still talking?”</a:t>
            </a:r>
          </a:p>
        </p:txBody>
      </p:sp>
      <p:sp>
        <p:nvSpPr>
          <p:cNvPr id="72" name="TextBox 71"/>
          <p:cNvSpPr txBox="1"/>
          <p:nvPr/>
        </p:nvSpPr>
        <p:spPr>
          <a:xfrm>
            <a:off x="4617720" y="4416552"/>
            <a:ext cx="2971800" cy="256032"/>
          </a:xfrm>
          <a:prstGeom prst="rect">
            <a:avLst/>
          </a:prstGeom>
          <a:noFill/>
        </p:spPr>
        <p:txBody>
          <a:bodyPr wrap="square" anchor="t" lIns="0" rIns="0" tIns="0" bIns="0"/>
          <a:lstStyle/>
          <a:p>
            <a:pPr algn="ctr"/>
            <a:r>
              <a:rPr sz="1050" b="0" i="1">
                <a:solidFill>
                  <a:srgbClr val="6D28D9"/>
                </a:solidFill>
                <a:latin typeface="Calibri"/>
              </a:rPr>
              <a:t>the reply, as a voice</a:t>
            </a:r>
          </a:p>
        </p:txBody>
      </p:sp>
      <p:sp>
        <p:nvSpPr>
          <p:cNvPr id="73" name="Rounded Rectangle 72"/>
          <p:cNvSpPr/>
          <p:nvPr/>
        </p:nvSpPr>
        <p:spPr>
          <a:xfrm>
            <a:off x="822960" y="2670048"/>
            <a:ext cx="2331720" cy="1024128"/>
          </a:xfrm>
          <a:prstGeom prst="roundRect">
            <a:avLst>
              <a:gd name="adj" fmla="val 10000"/>
            </a:avLst>
          </a:prstGeom>
          <a:solidFill>
            <a:srgbClr val="F6F3FD"/>
          </a:solidFill>
          <a:ln w="12700">
            <a:solidFill>
              <a:srgbClr val="D9D3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32688" y="2706624"/>
            <a:ext cx="2130552" cy="950976"/>
          </a:xfrm>
          <a:prstGeom prst="rect">
            <a:avLst/>
          </a:prstGeom>
          <a:noFill/>
        </p:spPr>
        <p:txBody>
          <a:bodyPr wrap="square" anchor="ctr" lIns="0" rIns="0" tIns="0" bIns="0"/>
          <a:lstStyle/>
          <a:p>
            <a:pPr algn="l">
              <a:spcAft>
                <a:spcPts val="200"/>
              </a:spcAft>
            </a:pPr>
            <a:r>
              <a:rPr sz="1150" b="1" i="0">
                <a:solidFill>
                  <a:srgbClr val="6D28D9"/>
                </a:solidFill>
                <a:latin typeface="Calibri"/>
              </a:rPr>
              <a:t>With Gemini Live</a:t>
            </a:r>
          </a:p>
          <a:p>
            <a:pPr algn="l">
              <a:spcAft>
                <a:spcPts val="200"/>
              </a:spcAft>
            </a:pPr>
            <a:r>
              <a:rPr sz="1000" b="0" i="0">
                <a:solidFill>
                  <a:srgbClr val="63637E"/>
                </a:solidFill>
                <a:latin typeface="Calibri"/>
              </a:rPr>
              <a:t>one model does the listening, understanding and speaking. In the other set-ups each step is a separate model.</a:t>
            </a:r>
          </a:p>
        </p:txBody>
      </p:sp>
      <p:sp>
        <p:nvSpPr>
          <p:cNvPr id="75" name="Rounded Rectangle 74"/>
          <p:cNvSpPr/>
          <p:nvPr/>
        </p:nvSpPr>
        <p:spPr>
          <a:xfrm>
            <a:off x="822960" y="5577840"/>
            <a:ext cx="2240280" cy="731520"/>
          </a:xfrm>
          <a:prstGeom prst="roundRect">
            <a:avLst>
              <a:gd name="adj" fmla="val 2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932688" y="5705855"/>
            <a:ext cx="475488" cy="475488"/>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Picture 76" descr="database.png"/>
          <p:cNvPicPr>
            <a:picLocks noChangeAspect="1"/>
          </p:cNvPicPr>
          <p:nvPr/>
        </p:nvPicPr>
        <p:blipFill>
          <a:blip r:embed="rId11"/>
          <a:stretch>
            <a:fillRect/>
          </a:stretch>
        </p:blipFill>
        <p:spPr>
          <a:xfrm>
            <a:off x="1027785" y="5800953"/>
            <a:ext cx="285292" cy="285292"/>
          </a:xfrm>
          <a:prstGeom prst="rect">
            <a:avLst/>
          </a:prstGeom>
        </p:spPr>
      </p:pic>
      <p:sp>
        <p:nvSpPr>
          <p:cNvPr id="78" name="TextBox 77"/>
          <p:cNvSpPr txBox="1"/>
          <p:nvPr/>
        </p:nvSpPr>
        <p:spPr>
          <a:xfrm>
            <a:off x="1508760" y="5669279"/>
            <a:ext cx="1481328" cy="548640"/>
          </a:xfrm>
          <a:prstGeom prst="rect">
            <a:avLst/>
          </a:prstGeom>
          <a:noFill/>
        </p:spPr>
        <p:txBody>
          <a:bodyPr wrap="square" anchor="ctr" lIns="0" rIns="0" tIns="0" bIns="0"/>
          <a:lstStyle/>
          <a:p>
            <a:pPr algn="l"/>
            <a:r>
              <a:rPr sz="1100" b="1" i="0">
                <a:solidFill>
                  <a:srgbClr val="14142B"/>
                </a:solidFill>
                <a:latin typeface="Calibri"/>
              </a:rPr>
              <a:t>Every step is recorded</a:t>
            </a:r>
          </a:p>
        </p:txBody>
      </p:sp>
      <p:cxnSp>
        <p:nvCxnSpPr>
          <p:cNvPr id="79" name="Connector 78"/>
          <p:cNvCxnSpPr/>
          <p:nvPr/>
        </p:nvCxnSpPr>
        <p:spPr>
          <a:xfrm>
            <a:off x="3081528" y="5943600"/>
            <a:ext cx="237744" cy="0"/>
          </a:xfrm>
          <a:prstGeom prst="line">
            <a:avLst/>
          </a:prstGeom>
          <a:ln w="15875">
            <a:solidFill>
              <a:srgbClr val="9A9A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Rounded Rectangle 79"/>
          <p:cNvSpPr/>
          <p:nvPr/>
        </p:nvSpPr>
        <p:spPr>
          <a:xfrm>
            <a:off x="3337560" y="5577840"/>
            <a:ext cx="2240280" cy="731520"/>
          </a:xfrm>
          <a:prstGeom prst="roundRect">
            <a:avLst>
              <a:gd name="adj" fmla="val 2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447288" y="5705855"/>
            <a:ext cx="475488" cy="475488"/>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2" name="Picture 81" descr="monitor.png"/>
          <p:cNvPicPr>
            <a:picLocks noChangeAspect="1"/>
          </p:cNvPicPr>
          <p:nvPr/>
        </p:nvPicPr>
        <p:blipFill>
          <a:blip r:embed="rId12"/>
          <a:stretch>
            <a:fillRect/>
          </a:stretch>
        </p:blipFill>
        <p:spPr>
          <a:xfrm>
            <a:off x="3542385" y="5800953"/>
            <a:ext cx="285292" cy="285292"/>
          </a:xfrm>
          <a:prstGeom prst="rect">
            <a:avLst/>
          </a:prstGeom>
        </p:spPr>
      </p:pic>
      <p:sp>
        <p:nvSpPr>
          <p:cNvPr id="83" name="TextBox 82"/>
          <p:cNvSpPr txBox="1"/>
          <p:nvPr/>
        </p:nvSpPr>
        <p:spPr>
          <a:xfrm>
            <a:off x="4023360" y="5669279"/>
            <a:ext cx="1481328" cy="548640"/>
          </a:xfrm>
          <a:prstGeom prst="rect">
            <a:avLst/>
          </a:prstGeom>
          <a:noFill/>
        </p:spPr>
        <p:txBody>
          <a:bodyPr wrap="square" anchor="ctr" lIns="0" rIns="0" tIns="0" bIns="0"/>
          <a:lstStyle/>
          <a:p>
            <a:pPr algn="l"/>
            <a:r>
              <a:rPr sz="1100" b="1" i="0">
                <a:solidFill>
                  <a:srgbClr val="14142B"/>
                </a:solidFill>
                <a:latin typeface="Calibri"/>
              </a:rPr>
              <a:t>Replay it in the web app</a:t>
            </a:r>
          </a:p>
        </p:txBody>
      </p:sp>
      <p:cxnSp>
        <p:nvCxnSpPr>
          <p:cNvPr id="84" name="Connector 83"/>
          <p:cNvCxnSpPr/>
          <p:nvPr/>
        </p:nvCxnSpPr>
        <p:spPr>
          <a:xfrm>
            <a:off x="5596128" y="5943600"/>
            <a:ext cx="237744" cy="0"/>
          </a:xfrm>
          <a:prstGeom prst="line">
            <a:avLst/>
          </a:prstGeom>
          <a:ln w="15875">
            <a:solidFill>
              <a:srgbClr val="9A9A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Rounded Rectangle 84"/>
          <p:cNvSpPr/>
          <p:nvPr/>
        </p:nvSpPr>
        <p:spPr>
          <a:xfrm>
            <a:off x="5852160" y="5577840"/>
            <a:ext cx="2240280" cy="731520"/>
          </a:xfrm>
          <a:prstGeom prst="roundRect">
            <a:avLst>
              <a:gd name="adj" fmla="val 2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961888" y="5705855"/>
            <a:ext cx="475488" cy="475488"/>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chart-column.png"/>
          <p:cNvPicPr>
            <a:picLocks noChangeAspect="1"/>
          </p:cNvPicPr>
          <p:nvPr/>
        </p:nvPicPr>
        <p:blipFill>
          <a:blip r:embed="rId13"/>
          <a:stretch>
            <a:fillRect/>
          </a:stretch>
        </p:blipFill>
        <p:spPr>
          <a:xfrm>
            <a:off x="6056985" y="5800953"/>
            <a:ext cx="285292" cy="285292"/>
          </a:xfrm>
          <a:prstGeom prst="rect">
            <a:avLst/>
          </a:prstGeom>
        </p:spPr>
      </p:pic>
      <p:sp>
        <p:nvSpPr>
          <p:cNvPr id="88" name="TextBox 87"/>
          <p:cNvSpPr txBox="1"/>
          <p:nvPr/>
        </p:nvSpPr>
        <p:spPr>
          <a:xfrm>
            <a:off x="6537960" y="5669279"/>
            <a:ext cx="1481328" cy="548640"/>
          </a:xfrm>
          <a:prstGeom prst="rect">
            <a:avLst/>
          </a:prstGeom>
          <a:noFill/>
        </p:spPr>
        <p:txBody>
          <a:bodyPr wrap="square" anchor="ctr" lIns="0" rIns="0" tIns="0" bIns="0"/>
          <a:lstStyle/>
          <a:p>
            <a:pPr algn="l"/>
            <a:r>
              <a:rPr sz="1100" b="1" i="0">
                <a:solidFill>
                  <a:srgbClr val="14142B"/>
                </a:solidFill>
                <a:latin typeface="Calibri"/>
              </a:rPr>
              <a:t>Scored by Full-Duplex-Bench v3</a:t>
            </a:r>
          </a:p>
        </p:txBody>
      </p:sp>
      <p:sp>
        <p:nvSpPr>
          <p:cNvPr id="89" name="TextBox 88"/>
          <p:cNvSpPr txBox="1"/>
          <p:nvPr/>
        </p:nvSpPr>
        <p:spPr>
          <a:xfrm>
            <a:off x="8503920" y="5577840"/>
            <a:ext cx="2880360" cy="731520"/>
          </a:xfrm>
          <a:prstGeom prst="rect">
            <a:avLst/>
          </a:prstGeom>
          <a:noFill/>
        </p:spPr>
        <p:txBody>
          <a:bodyPr wrap="square" anchor="ctr" lIns="0" rIns="0" tIns="0" bIns="0"/>
          <a:lstStyle/>
          <a:p>
            <a:pPr algn="l"/>
            <a:r>
              <a:rPr sz="1000" b="0" i="0">
                <a:solidFill>
                  <a:srgbClr val="63637E"/>
                </a:solidFill>
                <a:latin typeface="Calibri"/>
              </a:rPr>
              <a:t>Tools are either the benchmark’s services (flights, orders, bills, homes) or Show &amp; Fix (camera → vision model → Samsung error codes → booking).</a:t>
            </a:r>
          </a:p>
        </p:txBody>
      </p:sp>
      <p:sp>
        <p:nvSpPr>
          <p:cNvPr id="90" name="Rounded Rectangle 89">
            <a:hlinkClick action="ppaction://hlinksldjump" r:id="rId15"/>
          </p:cNvPr>
          <p:cNvSpPr/>
          <p:nvPr/>
        </p:nvSpPr>
        <p:spPr>
          <a:xfrm>
            <a:off x="841248"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91" name="Rounded Rectangle 90">
            <a:hlinkClick action="ppaction://hlinksldjump" r:id="rId16"/>
          </p:cNvPr>
          <p:cNvSpPr/>
          <p:nvPr/>
        </p:nvSpPr>
        <p:spPr>
          <a:xfrm>
            <a:off x="2359151"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92" name="Rounded Rectangle 91">
            <a:hlinkClick action="ppaction://hlinksldjump" r:id="rId17"/>
          </p:cNvPr>
          <p:cNvSpPr/>
          <p:nvPr/>
        </p:nvSpPr>
        <p:spPr>
          <a:xfrm>
            <a:off x="3877055"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93" name="Rounded Rectangle 92"/>
          <p:cNvSpPr/>
          <p:nvPr/>
        </p:nvSpPr>
        <p:spPr>
          <a:xfrm>
            <a:off x="5394959" y="6464808"/>
            <a:ext cx="1408175"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How it works</a:t>
            </a:r>
          </a:p>
        </p:txBody>
      </p:sp>
      <p:sp>
        <p:nvSpPr>
          <p:cNvPr id="96" name="Rounded Rectangle 95">
            <a:hlinkClick action="ppaction://hlinksldjump" r:id="rId20"/>
          </p:cNvPr>
          <p:cNvSpPr/>
          <p:nvPr/>
        </p:nvSpPr>
        <p:spPr>
          <a:xfrm>
            <a:off x="6912863"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97" name="Rounded Rectangle 96">
            <a:hlinkClick action="ppaction://hlinksldjump" r:id="rId21"/>
          </p:cNvPr>
          <p:cNvSpPr/>
          <p:nvPr/>
        </p:nvSpPr>
        <p:spPr>
          <a:xfrm>
            <a:off x="8430767"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98" name="Rounded Rectangle 97">
            <a:hlinkClick action="ppaction://hlinksldjump" r:id="rId22"/>
          </p:cNvPr>
          <p:cNvSpPr/>
          <p:nvPr/>
        </p:nvSpPr>
        <p:spPr>
          <a:xfrm>
            <a:off x="9948671"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600" i="0">
                <a:solidFill>
                  <a:srgbClr val="704EA6"/>
                </a:solidFill>
                <a:latin typeface="Calibri"/>
                <a:ea typeface="Calibri"/>
                <a:cs typeface="Calibri"/>
                <a:sym typeface="Calibri"/>
              </a:rPr>
              <a:t>Impact &amp; Use case</a:t>
            </a:r>
            <a:endParaRPr b="1">
              <a:solidFill>
                <a:srgbClr val="704EA6"/>
              </a:solidFill>
            </a:endParaRPr>
          </a:p>
        </p:txBody>
      </p:sp>
      <p:pic>
        <p:nvPicPr>
          <p:cNvPr id="132" name="Picture 131" descr="sf_timeline.png"/>
          <p:cNvPicPr>
            <a:picLocks noChangeAspect="1"/>
          </p:cNvPicPr>
          <p:nvPr/>
        </p:nvPicPr>
        <p:blipFill>
          <a:blip r:embed="rId3"/>
          <a:stretch>
            <a:fillRect/>
          </a:stretch>
        </p:blipFill>
        <p:spPr>
          <a:xfrm>
            <a:off x="822960" y="1280160"/>
            <a:ext cx="5394960" cy="2583113"/>
          </a:xfrm>
          <a:prstGeom prst="roundRect">
            <a:avLst>
              <a:gd name="adj" fmla="val 4000"/>
            </a:avLst>
          </a:prstGeom>
          <a:ln w="12700">
            <a:solidFill>
              <a:srgbClr val="D9D3F0"/>
            </a:solidFill>
          </a:ln>
        </p:spPr>
      </p:pic>
      <p:sp>
        <p:nvSpPr>
          <p:cNvPr id="133" name="TextBox 132"/>
          <p:cNvSpPr txBox="1"/>
          <p:nvPr/>
        </p:nvSpPr>
        <p:spPr>
          <a:xfrm>
            <a:off x="822960" y="3904487"/>
            <a:ext cx="5394960" cy="457200"/>
          </a:xfrm>
          <a:prstGeom prst="rect">
            <a:avLst/>
          </a:prstGeom>
          <a:noFill/>
        </p:spPr>
        <p:txBody>
          <a:bodyPr wrap="square" anchor="t" lIns="0" rIns="0" tIns="0" bIns="0"/>
          <a:lstStyle/>
          <a:p>
            <a:pPr algn="l"/>
            <a:r>
              <a:rPr sz="1000" b="0" i="1">
                <a:solidFill>
                  <a:srgbClr val="63637E"/>
                </a:solidFill>
                <a:latin typeface="Calibri"/>
              </a:rPr>
              <a:t>The same live session on Keel’s timeline: the display is read, then the booking is held until the user finishes “Friday… oh, wait, Saturday”, then made once.</a:t>
            </a:r>
          </a:p>
        </p:txBody>
      </p:sp>
      <p:sp>
        <p:nvSpPr>
          <p:cNvPr id="134" name="Oval 133"/>
          <p:cNvSpPr/>
          <p:nvPr/>
        </p:nvSpPr>
        <p:spPr>
          <a:xfrm>
            <a:off x="1207008" y="4617720"/>
            <a:ext cx="548640" cy="548640"/>
          </a:xfrm>
          <a:prstGeom prst="ellipse">
            <a:avLst/>
          </a:prstGeom>
          <a:solidFill>
            <a:srgbClr val="E3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5" name="Picture 134" descr="camera.png"/>
          <p:cNvPicPr>
            <a:picLocks noChangeAspect="1"/>
          </p:cNvPicPr>
          <p:nvPr/>
        </p:nvPicPr>
        <p:blipFill>
          <a:blip r:embed="rId4"/>
          <a:stretch>
            <a:fillRect/>
          </a:stretch>
        </p:blipFill>
        <p:spPr>
          <a:xfrm>
            <a:off x="1316736" y="4727448"/>
            <a:ext cx="329184" cy="329184"/>
          </a:xfrm>
          <a:prstGeom prst="rect">
            <a:avLst/>
          </a:prstGeom>
        </p:spPr>
      </p:pic>
      <p:sp>
        <p:nvSpPr>
          <p:cNvPr id="136" name="TextBox 135"/>
          <p:cNvSpPr txBox="1"/>
          <p:nvPr/>
        </p:nvSpPr>
        <p:spPr>
          <a:xfrm>
            <a:off x="822960" y="5230368"/>
            <a:ext cx="1325880" cy="868680"/>
          </a:xfrm>
          <a:prstGeom prst="rect">
            <a:avLst/>
          </a:prstGeom>
          <a:noFill/>
        </p:spPr>
        <p:txBody>
          <a:bodyPr wrap="square" anchor="t" lIns="0" rIns="0" tIns="0" bIns="0"/>
          <a:lstStyle/>
          <a:p>
            <a:pPr algn="ctr"/>
            <a:r>
              <a:rPr sz="1150" b="1" i="0">
                <a:solidFill>
                  <a:srgbClr val="14142B"/>
                </a:solidFill>
                <a:latin typeface="Calibri"/>
              </a:rPr>
              <a:t>Point your camera</a:t>
            </a:r>
          </a:p>
          <a:p>
            <a:pPr algn="ctr"/>
            <a:r>
              <a:rPr sz="1000" b="0" i="0">
                <a:solidFill>
                  <a:srgbClr val="63637E"/>
                </a:solidFill>
                <a:latin typeface="Calibri"/>
              </a:rPr>
              <a:t>at the washer’s display</a:t>
            </a:r>
          </a:p>
        </p:txBody>
      </p:sp>
      <p:cxnSp>
        <p:nvCxnSpPr>
          <p:cNvPr id="137" name="Connector 136"/>
          <p:cNvCxnSpPr/>
          <p:nvPr/>
        </p:nvCxnSpPr>
        <p:spPr>
          <a:xfrm>
            <a:off x="1847088" y="4892040"/>
            <a:ext cx="283464" cy="0"/>
          </a:xfrm>
          <a:prstGeom prst="line">
            <a:avLst/>
          </a:prstGeom>
          <a:ln w="19050">
            <a:solidFill>
              <a:srgbClr val="4FB3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8" name="Oval 137"/>
          <p:cNvSpPr/>
          <p:nvPr/>
        </p:nvSpPr>
        <p:spPr>
          <a:xfrm>
            <a:off x="2578608" y="4617720"/>
            <a:ext cx="548640" cy="548640"/>
          </a:xfrm>
          <a:prstGeom prst="ellipse">
            <a:avLst/>
          </a:prstGeom>
          <a:solidFill>
            <a:srgbClr val="E3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9" name="Picture 138" descr="eye.png"/>
          <p:cNvPicPr>
            <a:picLocks noChangeAspect="1"/>
          </p:cNvPicPr>
          <p:nvPr/>
        </p:nvPicPr>
        <p:blipFill>
          <a:blip r:embed="rId5"/>
          <a:stretch>
            <a:fillRect/>
          </a:stretch>
        </p:blipFill>
        <p:spPr>
          <a:xfrm>
            <a:off x="2688336" y="4727448"/>
            <a:ext cx="329184" cy="329184"/>
          </a:xfrm>
          <a:prstGeom prst="rect">
            <a:avLst/>
          </a:prstGeom>
        </p:spPr>
      </p:pic>
      <p:sp>
        <p:nvSpPr>
          <p:cNvPr id="140" name="TextBox 139"/>
          <p:cNvSpPr txBox="1"/>
          <p:nvPr/>
        </p:nvSpPr>
        <p:spPr>
          <a:xfrm>
            <a:off x="2194560" y="5230368"/>
            <a:ext cx="1325880" cy="868680"/>
          </a:xfrm>
          <a:prstGeom prst="rect">
            <a:avLst/>
          </a:prstGeom>
          <a:noFill/>
        </p:spPr>
        <p:txBody>
          <a:bodyPr wrap="square" anchor="t" lIns="0" rIns="0" tIns="0" bIns="0"/>
          <a:lstStyle/>
          <a:p>
            <a:pPr algn="ctr"/>
            <a:r>
              <a:rPr sz="1150" b="1" i="0">
                <a:solidFill>
                  <a:srgbClr val="14142B"/>
                </a:solidFill>
                <a:latin typeface="Calibri"/>
              </a:rPr>
              <a:t>It reads the code</a:t>
            </a:r>
          </a:p>
          <a:p>
            <a:pPr algn="ctr"/>
            <a:r>
              <a:rPr sz="1000" b="0" i="0">
                <a:solidFill>
                  <a:srgbClr val="63637E"/>
                </a:solidFill>
                <a:latin typeface="Calibri"/>
              </a:rPr>
              <a:t>with a vision model</a:t>
            </a:r>
          </a:p>
        </p:txBody>
      </p:sp>
      <p:cxnSp>
        <p:nvCxnSpPr>
          <p:cNvPr id="141" name="Connector 140"/>
          <p:cNvCxnSpPr/>
          <p:nvPr/>
        </p:nvCxnSpPr>
        <p:spPr>
          <a:xfrm>
            <a:off x="3218688" y="4892040"/>
            <a:ext cx="283464" cy="0"/>
          </a:xfrm>
          <a:prstGeom prst="line">
            <a:avLst/>
          </a:prstGeom>
          <a:ln w="19050">
            <a:solidFill>
              <a:srgbClr val="4FB3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2" name="Oval 141"/>
          <p:cNvSpPr/>
          <p:nvPr/>
        </p:nvSpPr>
        <p:spPr>
          <a:xfrm>
            <a:off x="3950208" y="4617720"/>
            <a:ext cx="548640" cy="548640"/>
          </a:xfrm>
          <a:prstGeom prst="ellipse">
            <a:avLst/>
          </a:prstGeom>
          <a:solidFill>
            <a:srgbClr val="E3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3" name="Picture 142" descr="list-checks.png"/>
          <p:cNvPicPr>
            <a:picLocks noChangeAspect="1"/>
          </p:cNvPicPr>
          <p:nvPr/>
        </p:nvPicPr>
        <p:blipFill>
          <a:blip r:embed="rId6"/>
          <a:stretch>
            <a:fillRect/>
          </a:stretch>
        </p:blipFill>
        <p:spPr>
          <a:xfrm>
            <a:off x="4059936" y="4727448"/>
            <a:ext cx="329184" cy="329184"/>
          </a:xfrm>
          <a:prstGeom prst="rect">
            <a:avLst/>
          </a:prstGeom>
        </p:spPr>
      </p:pic>
      <p:sp>
        <p:nvSpPr>
          <p:cNvPr id="144" name="TextBox 143"/>
          <p:cNvSpPr txBox="1"/>
          <p:nvPr/>
        </p:nvSpPr>
        <p:spPr>
          <a:xfrm>
            <a:off x="3566160" y="5230368"/>
            <a:ext cx="1325880" cy="868680"/>
          </a:xfrm>
          <a:prstGeom prst="rect">
            <a:avLst/>
          </a:prstGeom>
          <a:noFill/>
        </p:spPr>
        <p:txBody>
          <a:bodyPr wrap="square" anchor="t" lIns="0" rIns="0" tIns="0" bIns="0"/>
          <a:lstStyle/>
          <a:p>
            <a:pPr algn="ctr"/>
            <a:r>
              <a:rPr sz="1150" b="1" i="0">
                <a:solidFill>
                  <a:srgbClr val="14142B"/>
                </a:solidFill>
                <a:latin typeface="Calibri"/>
              </a:rPr>
              <a:t>It explains the fix</a:t>
            </a:r>
          </a:p>
          <a:p>
            <a:pPr algn="ctr"/>
            <a:r>
              <a:rPr sz="1000" b="0" i="0">
                <a:solidFill>
                  <a:srgbClr val="63637E"/>
                </a:solidFill>
                <a:latin typeface="Calibri"/>
              </a:rPr>
              <a:t>from Samsung’s own code table</a:t>
            </a:r>
          </a:p>
        </p:txBody>
      </p:sp>
      <p:cxnSp>
        <p:nvCxnSpPr>
          <p:cNvPr id="145" name="Connector 144"/>
          <p:cNvCxnSpPr/>
          <p:nvPr/>
        </p:nvCxnSpPr>
        <p:spPr>
          <a:xfrm>
            <a:off x="4590288" y="4892040"/>
            <a:ext cx="283464" cy="0"/>
          </a:xfrm>
          <a:prstGeom prst="line">
            <a:avLst/>
          </a:prstGeom>
          <a:ln w="19050">
            <a:solidFill>
              <a:srgbClr val="4FB3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6" name="Oval 145"/>
          <p:cNvSpPr/>
          <p:nvPr/>
        </p:nvSpPr>
        <p:spPr>
          <a:xfrm>
            <a:off x="5321808" y="4617720"/>
            <a:ext cx="548640" cy="548640"/>
          </a:xfrm>
          <a:prstGeom prst="ellipse">
            <a:avLst/>
          </a:prstGeom>
          <a:solidFill>
            <a:srgbClr val="E3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7" name="Picture 146" descr="calendar-check.png"/>
          <p:cNvPicPr>
            <a:picLocks noChangeAspect="1"/>
          </p:cNvPicPr>
          <p:nvPr/>
        </p:nvPicPr>
        <p:blipFill>
          <a:blip r:embed="rId7"/>
          <a:stretch>
            <a:fillRect/>
          </a:stretch>
        </p:blipFill>
        <p:spPr>
          <a:xfrm>
            <a:off x="5431536" y="4727448"/>
            <a:ext cx="329184" cy="329184"/>
          </a:xfrm>
          <a:prstGeom prst="rect">
            <a:avLst/>
          </a:prstGeom>
        </p:spPr>
      </p:pic>
      <p:sp>
        <p:nvSpPr>
          <p:cNvPr id="148" name="TextBox 147"/>
          <p:cNvSpPr txBox="1"/>
          <p:nvPr/>
        </p:nvSpPr>
        <p:spPr>
          <a:xfrm>
            <a:off x="4937760" y="5230368"/>
            <a:ext cx="1325880" cy="868680"/>
          </a:xfrm>
          <a:prstGeom prst="rect">
            <a:avLst/>
          </a:prstGeom>
          <a:noFill/>
        </p:spPr>
        <p:txBody>
          <a:bodyPr wrap="square" anchor="t" lIns="0" rIns="0" tIns="0" bIns="0"/>
          <a:lstStyle/>
          <a:p>
            <a:pPr algn="ctr"/>
            <a:r>
              <a:rPr sz="1150" b="1" i="0">
                <a:solidFill>
                  <a:srgbClr val="14142B"/>
                </a:solidFill>
                <a:latin typeface="Calibri"/>
              </a:rPr>
              <a:t>It books a technician</a:t>
            </a:r>
          </a:p>
          <a:p>
            <a:pPr algn="ctr"/>
            <a:r>
              <a:rPr sz="1000" b="0" i="0">
                <a:solidFill>
                  <a:srgbClr val="63637E"/>
                </a:solidFill>
                <a:latin typeface="Calibri"/>
              </a:rPr>
              <a:t>once, on the right day</a:t>
            </a:r>
          </a:p>
        </p:txBody>
      </p:sp>
      <p:sp>
        <p:nvSpPr>
          <p:cNvPr id="149" name="TextBox 148"/>
          <p:cNvSpPr txBox="1"/>
          <p:nvPr/>
        </p:nvSpPr>
        <p:spPr>
          <a:xfrm>
            <a:off x="6537960" y="1234440"/>
            <a:ext cx="4846320" cy="457200"/>
          </a:xfrm>
          <a:prstGeom prst="rect">
            <a:avLst/>
          </a:prstGeom>
          <a:noFill/>
        </p:spPr>
        <p:txBody>
          <a:bodyPr wrap="square" anchor="t" lIns="0" rIns="0" tIns="0" bIns="0"/>
          <a:lstStyle/>
          <a:p>
            <a:pPr algn="l"/>
            <a:r>
              <a:rPr sz="2600" b="1" i="0">
                <a:solidFill>
                  <a:srgbClr val="14142B"/>
                </a:solidFill>
                <a:latin typeface="Calibri"/>
              </a:rPr>
              <a:t>Show &amp; Fix</a:t>
            </a:r>
          </a:p>
        </p:txBody>
      </p:sp>
      <p:sp>
        <p:nvSpPr>
          <p:cNvPr id="150" name="TextBox 149"/>
          <p:cNvSpPr txBox="1"/>
          <p:nvPr/>
        </p:nvSpPr>
        <p:spPr>
          <a:xfrm>
            <a:off x="6537960" y="1719072"/>
            <a:ext cx="4846320" cy="320040"/>
          </a:xfrm>
          <a:prstGeom prst="rect">
            <a:avLst/>
          </a:prstGeom>
          <a:noFill/>
        </p:spPr>
        <p:txBody>
          <a:bodyPr wrap="square" anchor="t" lIns="0" rIns="0" tIns="0" bIns="0"/>
          <a:lstStyle/>
          <a:p>
            <a:pPr algn="l"/>
            <a:r>
              <a:rPr sz="1300" b="0" i="0">
                <a:solidFill>
                  <a:srgbClr val="63637E"/>
                </a:solidFill>
                <a:latin typeface="Calibri"/>
              </a:rPr>
              <a:t>Our extension: a washer helper that can see</a:t>
            </a:r>
          </a:p>
        </p:txBody>
      </p:sp>
      <p:pic>
        <p:nvPicPr>
          <p:cNvPr id="151" name="Picture 150" descr="sf_transcript.png"/>
          <p:cNvPicPr>
            <a:picLocks noChangeAspect="1"/>
          </p:cNvPicPr>
          <p:nvPr/>
        </p:nvPicPr>
        <p:blipFill>
          <a:blip r:embed="rId8"/>
          <a:srcRect t="56" b="56"/>
          <a:stretch>
            <a:fillRect/>
          </a:stretch>
        </p:blipFill>
        <p:spPr>
          <a:xfrm>
            <a:off x="6537960" y="2148840"/>
            <a:ext cx="2697480" cy="2990088"/>
          </a:xfrm>
          <a:prstGeom prst="roundRect">
            <a:avLst>
              <a:gd name="adj" fmla="val 4000"/>
            </a:avLst>
          </a:prstGeom>
          <a:ln w="12700">
            <a:solidFill>
              <a:srgbClr val="D9D3F0"/>
            </a:solidFill>
          </a:ln>
        </p:spPr>
      </p:pic>
      <p:pic>
        <p:nvPicPr>
          <p:cNvPr id="152" name="Picture 151" descr="washer_5E_synthetic.png"/>
          <p:cNvPicPr>
            <a:picLocks noChangeAspect="1"/>
          </p:cNvPicPr>
          <p:nvPr/>
        </p:nvPicPr>
        <p:blipFill>
          <a:blip r:embed="rId9"/>
          <a:srcRect l="26" r="26"/>
          <a:stretch>
            <a:fillRect/>
          </a:stretch>
        </p:blipFill>
        <p:spPr>
          <a:xfrm>
            <a:off x="9418320" y="2148840"/>
            <a:ext cx="1965960" cy="1106424"/>
          </a:xfrm>
          <a:prstGeom prst="roundRect">
            <a:avLst>
              <a:gd name="adj" fmla="val 4000"/>
            </a:avLst>
          </a:prstGeom>
          <a:ln w="12700">
            <a:solidFill>
              <a:srgbClr val="D9D3F0"/>
            </a:solidFill>
          </a:ln>
        </p:spPr>
      </p:pic>
      <p:sp>
        <p:nvSpPr>
          <p:cNvPr id="153" name="TextBox 152"/>
          <p:cNvSpPr txBox="1"/>
          <p:nvPr/>
        </p:nvSpPr>
        <p:spPr>
          <a:xfrm>
            <a:off x="9418320" y="3291840"/>
            <a:ext cx="1965960" cy="365760"/>
          </a:xfrm>
          <a:prstGeom prst="rect">
            <a:avLst/>
          </a:prstGeom>
          <a:noFill/>
        </p:spPr>
        <p:txBody>
          <a:bodyPr wrap="square" anchor="t" lIns="0" rIns="0" tIns="0" bIns="0"/>
          <a:lstStyle/>
          <a:p>
            <a:pPr algn="l"/>
            <a:r>
              <a:rPr sz="900" b="0" i="1">
                <a:solidFill>
                  <a:srgbClr val="63637E"/>
                </a:solidFill>
                <a:latin typeface="Calibri"/>
              </a:rPr>
              <a:t>Test display used as the camera (labelled synthetic)</a:t>
            </a:r>
          </a:p>
        </p:txBody>
      </p:sp>
      <p:pic>
        <p:nvPicPr>
          <p:cNvPr id="154" name="Picture 153" descr="circle-check.png"/>
          <p:cNvPicPr>
            <a:picLocks noChangeAspect="1"/>
          </p:cNvPicPr>
          <p:nvPr/>
        </p:nvPicPr>
        <p:blipFill>
          <a:blip r:embed="rId10"/>
          <a:stretch>
            <a:fillRect/>
          </a:stretch>
        </p:blipFill>
        <p:spPr>
          <a:xfrm>
            <a:off x="9418320" y="3730752"/>
            <a:ext cx="274320" cy="274320"/>
          </a:xfrm>
          <a:prstGeom prst="rect">
            <a:avLst/>
          </a:prstGeom>
        </p:spPr>
      </p:pic>
      <p:sp>
        <p:nvSpPr>
          <p:cNvPr id="155" name="TextBox 154"/>
          <p:cNvSpPr txBox="1"/>
          <p:nvPr/>
        </p:nvSpPr>
        <p:spPr>
          <a:xfrm>
            <a:off x="9747504" y="3712464"/>
            <a:ext cx="1645920" cy="457200"/>
          </a:xfrm>
          <a:prstGeom prst="rect">
            <a:avLst/>
          </a:prstGeom>
          <a:noFill/>
        </p:spPr>
        <p:txBody>
          <a:bodyPr wrap="square" anchor="t" lIns="0" rIns="0" tIns="0" bIns="0"/>
          <a:lstStyle/>
          <a:p>
            <a:pPr algn="l"/>
            <a:r>
              <a:rPr sz="950" b="0" i="0">
                <a:solidFill>
                  <a:srgbClr val="14142B"/>
                </a:solidFill>
                <a:latin typeface="Calibri"/>
              </a:rPr>
              <a:t>Read the code as 5E, though the display showed “SE”</a:t>
            </a:r>
          </a:p>
        </p:txBody>
      </p:sp>
      <p:pic>
        <p:nvPicPr>
          <p:cNvPr id="156" name="Picture 155" descr="circle-check.png"/>
          <p:cNvPicPr>
            <a:picLocks noChangeAspect="1"/>
          </p:cNvPicPr>
          <p:nvPr/>
        </p:nvPicPr>
        <p:blipFill>
          <a:blip r:embed="rId10"/>
          <a:stretch>
            <a:fillRect/>
          </a:stretch>
        </p:blipFill>
        <p:spPr>
          <a:xfrm>
            <a:off x="9418320" y="4206240"/>
            <a:ext cx="274320" cy="274320"/>
          </a:xfrm>
          <a:prstGeom prst="rect">
            <a:avLst/>
          </a:prstGeom>
        </p:spPr>
      </p:pic>
      <p:sp>
        <p:nvSpPr>
          <p:cNvPr id="157" name="TextBox 156"/>
          <p:cNvSpPr txBox="1"/>
          <p:nvPr/>
        </p:nvSpPr>
        <p:spPr>
          <a:xfrm>
            <a:off x="9747504" y="4187952"/>
            <a:ext cx="1645920" cy="457200"/>
          </a:xfrm>
          <a:prstGeom prst="rect">
            <a:avLst/>
          </a:prstGeom>
          <a:noFill/>
        </p:spPr>
        <p:txBody>
          <a:bodyPr wrap="square" anchor="t" lIns="0" rIns="0" tIns="0" bIns="0"/>
          <a:lstStyle/>
          <a:p>
            <a:pPr algn="l"/>
            <a:r>
              <a:rPr sz="950" b="0" i="0">
                <a:solidFill>
                  <a:srgbClr val="14142B"/>
                </a:solidFill>
                <a:latin typeface="Calibri"/>
              </a:rPr>
              <a:t>Booked Saturday once after “Friday… oh, wait, Saturday”</a:t>
            </a:r>
          </a:p>
        </p:txBody>
      </p:sp>
      <p:pic>
        <p:nvPicPr>
          <p:cNvPr id="158" name="Picture 157" descr="circle-check.png"/>
          <p:cNvPicPr>
            <a:picLocks noChangeAspect="1"/>
          </p:cNvPicPr>
          <p:nvPr/>
        </p:nvPicPr>
        <p:blipFill>
          <a:blip r:embed="rId10"/>
          <a:stretch>
            <a:fillRect/>
          </a:stretch>
        </p:blipFill>
        <p:spPr>
          <a:xfrm>
            <a:off x="9418320" y="4681727"/>
            <a:ext cx="274320" cy="274320"/>
          </a:xfrm>
          <a:prstGeom prst="rect">
            <a:avLst/>
          </a:prstGeom>
        </p:spPr>
      </p:pic>
      <p:sp>
        <p:nvSpPr>
          <p:cNvPr id="159" name="TextBox 158"/>
          <p:cNvSpPr txBox="1"/>
          <p:nvPr/>
        </p:nvSpPr>
        <p:spPr>
          <a:xfrm>
            <a:off x="9747504" y="4663440"/>
            <a:ext cx="1645920" cy="457200"/>
          </a:xfrm>
          <a:prstGeom prst="rect">
            <a:avLst/>
          </a:prstGeom>
          <a:noFill/>
        </p:spPr>
        <p:txBody>
          <a:bodyPr wrap="square" anchor="t" lIns="0" rIns="0" tIns="0" bIns="0"/>
          <a:lstStyle/>
          <a:p>
            <a:pPr algn="l"/>
            <a:r>
              <a:rPr sz="950" b="0" i="0">
                <a:solidFill>
                  <a:srgbClr val="14142B"/>
                </a:solidFill>
                <a:latin typeface="Calibri"/>
              </a:rPr>
              <a:t>Checked before answering “did it go through?”</a:t>
            </a:r>
          </a:p>
        </p:txBody>
      </p:sp>
      <p:sp>
        <p:nvSpPr>
          <p:cNvPr id="160" name="TextBox 159"/>
          <p:cNvSpPr txBox="1"/>
          <p:nvPr/>
        </p:nvSpPr>
        <p:spPr>
          <a:xfrm>
            <a:off x="6537960" y="5230368"/>
            <a:ext cx="4846320" cy="228600"/>
          </a:xfrm>
          <a:prstGeom prst="rect">
            <a:avLst/>
          </a:prstGeom>
          <a:noFill/>
        </p:spPr>
        <p:txBody>
          <a:bodyPr wrap="square" anchor="t" lIns="0" rIns="0" tIns="0" bIns="0"/>
          <a:lstStyle/>
          <a:p>
            <a:pPr algn="l"/>
            <a:r>
              <a:rPr sz="1000" b="0" i="1">
                <a:solidFill>
                  <a:srgbClr val="63637E"/>
                </a:solidFill>
                <a:latin typeface="Calibri"/>
              </a:rPr>
              <a:t>A live session, recorded end to end on Gemini Live</a:t>
            </a:r>
          </a:p>
        </p:txBody>
      </p:sp>
      <p:sp>
        <p:nvSpPr>
          <p:cNvPr id="161" name="TextBox 160"/>
          <p:cNvSpPr txBox="1"/>
          <p:nvPr/>
        </p:nvSpPr>
        <p:spPr>
          <a:xfrm>
            <a:off x="6537960" y="5532120"/>
            <a:ext cx="4846320" cy="274320"/>
          </a:xfrm>
          <a:prstGeom prst="rect">
            <a:avLst/>
          </a:prstGeom>
          <a:noFill/>
        </p:spPr>
        <p:txBody>
          <a:bodyPr wrap="square" anchor="t" lIns="0" rIns="0" tIns="0" bIns="0"/>
          <a:lstStyle/>
          <a:p>
            <a:pPr algn="l"/>
            <a:r>
              <a:rPr sz="1200" b="1" i="0">
                <a:solidFill>
                  <a:srgbClr val="6D28D9"/>
                </a:solidFill>
                <a:latin typeface="Calibri"/>
              </a:rPr>
              <a:t>Where else this matters</a:t>
            </a:r>
          </a:p>
        </p:txBody>
      </p:sp>
      <p:sp>
        <p:nvSpPr>
          <p:cNvPr id="162" name="Oval 161"/>
          <p:cNvSpPr/>
          <p:nvPr/>
        </p:nvSpPr>
        <p:spPr>
          <a:xfrm>
            <a:off x="6537960" y="5833872"/>
            <a:ext cx="411480" cy="41148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3" name="Picture 162" descr="car.png"/>
          <p:cNvPicPr>
            <a:picLocks noChangeAspect="1"/>
          </p:cNvPicPr>
          <p:nvPr/>
        </p:nvPicPr>
        <p:blipFill>
          <a:blip r:embed="rId11"/>
          <a:stretch>
            <a:fillRect/>
          </a:stretch>
        </p:blipFill>
        <p:spPr>
          <a:xfrm>
            <a:off x="6620256" y="5916168"/>
            <a:ext cx="246888" cy="246888"/>
          </a:xfrm>
          <a:prstGeom prst="rect">
            <a:avLst/>
          </a:prstGeom>
        </p:spPr>
      </p:pic>
      <p:sp>
        <p:nvSpPr>
          <p:cNvPr id="164" name="TextBox 163"/>
          <p:cNvSpPr txBox="1"/>
          <p:nvPr/>
        </p:nvSpPr>
        <p:spPr>
          <a:xfrm>
            <a:off x="7013448" y="5815584"/>
            <a:ext cx="1920240" cy="502920"/>
          </a:xfrm>
          <a:prstGeom prst="rect">
            <a:avLst/>
          </a:prstGeom>
          <a:noFill/>
        </p:spPr>
        <p:txBody>
          <a:bodyPr wrap="square" anchor="t" lIns="0" rIns="0" tIns="0" bIns="0"/>
          <a:lstStyle/>
          <a:p>
            <a:pPr algn="l"/>
            <a:r>
              <a:rPr sz="1000" b="0" i="0">
                <a:solidFill>
                  <a:srgbClr val="14142B"/>
                </a:solidFill>
                <a:latin typeface="Calibri"/>
              </a:rPr>
              <a:t>In-car: change the destination mid-sentence</a:t>
            </a:r>
          </a:p>
        </p:txBody>
      </p:sp>
      <p:sp>
        <p:nvSpPr>
          <p:cNvPr id="165" name="Oval 164"/>
          <p:cNvSpPr/>
          <p:nvPr/>
        </p:nvSpPr>
        <p:spPr>
          <a:xfrm>
            <a:off x="8988552" y="5833872"/>
            <a:ext cx="411480" cy="41148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6" name="Picture 165" descr="message-circle.png"/>
          <p:cNvPicPr>
            <a:picLocks noChangeAspect="1"/>
          </p:cNvPicPr>
          <p:nvPr/>
        </p:nvPicPr>
        <p:blipFill>
          <a:blip r:embed="rId12"/>
          <a:stretch>
            <a:fillRect/>
          </a:stretch>
        </p:blipFill>
        <p:spPr>
          <a:xfrm>
            <a:off x="9070848" y="5916168"/>
            <a:ext cx="246888" cy="246888"/>
          </a:xfrm>
          <a:prstGeom prst="rect">
            <a:avLst/>
          </a:prstGeom>
        </p:spPr>
      </p:pic>
      <p:sp>
        <p:nvSpPr>
          <p:cNvPr id="167" name="TextBox 166"/>
          <p:cNvSpPr txBox="1"/>
          <p:nvPr/>
        </p:nvSpPr>
        <p:spPr>
          <a:xfrm>
            <a:off x="9464040" y="5815584"/>
            <a:ext cx="1920240" cy="502920"/>
          </a:xfrm>
          <a:prstGeom prst="rect">
            <a:avLst/>
          </a:prstGeom>
          <a:noFill/>
        </p:spPr>
        <p:txBody>
          <a:bodyPr wrap="square" anchor="t" lIns="0" rIns="0" tIns="0" bIns="0"/>
          <a:lstStyle/>
          <a:p>
            <a:pPr algn="l"/>
            <a:r>
              <a:rPr sz="1000" b="0" i="0">
                <a:solidFill>
                  <a:srgbClr val="14142B"/>
                </a:solidFill>
                <a:latin typeface="Calibri"/>
              </a:rPr>
              <a:t>Support lines: change a booking without double-booking</a:t>
            </a:r>
          </a:p>
        </p:txBody>
      </p:sp>
      <p:sp>
        <p:nvSpPr>
          <p:cNvPr id="168" name="Rounded Rectangle 167">
            <a:hlinkClick action="ppaction://hlinksldjump" r:id="rId13"/>
          </p:cNvPr>
          <p:cNvSpPr/>
          <p:nvPr/>
        </p:nvSpPr>
        <p:spPr>
          <a:xfrm>
            <a:off x="841248"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169" name="Rounded Rectangle 168">
            <a:hlinkClick action="ppaction://hlinksldjump" r:id="rId14"/>
          </p:cNvPr>
          <p:cNvSpPr/>
          <p:nvPr/>
        </p:nvSpPr>
        <p:spPr>
          <a:xfrm>
            <a:off x="2359151"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170" name="Rounded Rectangle 169">
            <a:hlinkClick action="ppaction://hlinksldjump" r:id="rId15"/>
          </p:cNvPr>
          <p:cNvSpPr/>
          <p:nvPr/>
        </p:nvSpPr>
        <p:spPr>
          <a:xfrm>
            <a:off x="3877055"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171" name="Rounded Rectangle 170">
            <a:hlinkClick action="ppaction://hlinksldjump" r:id="rId16"/>
          </p:cNvPr>
          <p:cNvSpPr/>
          <p:nvPr/>
        </p:nvSpPr>
        <p:spPr>
          <a:xfrm>
            <a:off x="5394959"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74" name="Rounded Rectangle 173"/>
          <p:cNvSpPr/>
          <p:nvPr/>
        </p:nvSpPr>
        <p:spPr>
          <a:xfrm>
            <a:off x="6912863" y="6464808"/>
            <a:ext cx="1408175"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Use case</a:t>
            </a:r>
          </a:p>
        </p:txBody>
      </p:sp>
      <p:sp>
        <p:nvSpPr>
          <p:cNvPr id="175" name="Rounded Rectangle 174">
            <a:hlinkClick action="ppaction://hlinksldjump" r:id="rId19"/>
          </p:cNvPr>
          <p:cNvSpPr/>
          <p:nvPr/>
        </p:nvSpPr>
        <p:spPr>
          <a:xfrm>
            <a:off x="8430767"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176" name="Rounded Rectangle 175">
            <a:hlinkClick action="ppaction://hlinksldjump" r:id="rId20"/>
          </p:cNvPr>
          <p:cNvSpPr/>
          <p:nvPr/>
        </p:nvSpPr>
        <p:spPr>
          <a:xfrm>
            <a:off x="9948671"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400" i="0">
                <a:solidFill>
                  <a:srgbClr val="704EA6"/>
                </a:solidFill>
                <a:latin typeface="Calibri"/>
                <a:ea typeface="Calibri"/>
                <a:cs typeface="Calibri"/>
                <a:sym typeface="Calibri"/>
              </a:rPr>
              <a:t>Innovation highlights, results and limitations</a:t>
            </a:r>
            <a:endParaRPr b="1" sz="4400">
              <a:solidFill>
                <a:srgbClr val="704EA6"/>
              </a:solidFill>
            </a:endParaRPr>
          </a:p>
        </p:txBody>
      </p:sp>
      <p:sp>
        <p:nvSpPr>
          <p:cNvPr id="138" name="Rounded Rectangle 137"/>
          <p:cNvSpPr/>
          <p:nvPr/>
        </p:nvSpPr>
        <p:spPr>
          <a:xfrm>
            <a:off x="822960" y="1234440"/>
            <a:ext cx="3886200" cy="1234440"/>
          </a:xfrm>
          <a:prstGeom prst="roundRect">
            <a:avLst>
              <a:gd name="adj" fmla="val 10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987552" y="1389888"/>
            <a:ext cx="1691640" cy="1005840"/>
          </a:xfrm>
          <a:prstGeom prst="rect">
            <a:avLst/>
          </a:prstGeom>
          <a:noFill/>
        </p:spPr>
        <p:txBody>
          <a:bodyPr wrap="square" anchor="t" lIns="0" rIns="0" tIns="0" bIns="0"/>
          <a:lstStyle/>
          <a:p>
            <a:pPr algn="l"/>
            <a:r>
              <a:rPr sz="2500" b="1" i="0">
                <a:solidFill>
                  <a:srgbClr val="6D28D9"/>
                </a:solidFill>
                <a:latin typeface="Calibri"/>
              </a:rPr>
              <a:t>48/100</a:t>
            </a:r>
          </a:p>
          <a:p>
            <a:pPr algn="l"/>
            <a:r>
              <a:rPr sz="1150" b="1" i="0">
                <a:solidFill>
                  <a:srgbClr val="14142B"/>
                </a:solidFill>
                <a:latin typeface="Calibri"/>
              </a:rPr>
              <a:t>strict pass, measured</a:t>
            </a:r>
          </a:p>
          <a:p>
            <a:pPr algn="l"/>
            <a:r>
              <a:rPr sz="950" b="0" i="0">
                <a:solidFill>
                  <a:srgbClr val="63637E"/>
                </a:solidFill>
                <a:latin typeface="Calibri"/>
              </a:rPr>
              <a:t>answers must match word for word</a:t>
            </a:r>
          </a:p>
        </p:txBody>
      </p:sp>
      <p:sp>
        <p:nvSpPr>
          <p:cNvPr id="140" name="TextBox 139"/>
          <p:cNvSpPr txBox="1"/>
          <p:nvPr/>
        </p:nvSpPr>
        <p:spPr>
          <a:xfrm>
            <a:off x="2907792" y="1389888"/>
            <a:ext cx="1719072" cy="1005840"/>
          </a:xfrm>
          <a:prstGeom prst="rect">
            <a:avLst/>
          </a:prstGeom>
          <a:noFill/>
        </p:spPr>
        <p:txBody>
          <a:bodyPr wrap="square" anchor="t" lIns="0" rIns="0" tIns="0" bIns="0"/>
          <a:lstStyle/>
          <a:p>
            <a:pPr algn="l"/>
            <a:r>
              <a:rPr sz="2500" b="1" i="0">
                <a:solidFill>
                  <a:srgbClr val="6D28D9"/>
                </a:solidFill>
                <a:latin typeface="Calibri"/>
              </a:rPr>
              <a:t>66/100</a:t>
            </a:r>
          </a:p>
          <a:p>
            <a:pPr algn="l"/>
            <a:r>
              <a:rPr sz="1150" b="1" i="0">
                <a:solidFill>
                  <a:srgbClr val="14142B"/>
                </a:solidFill>
                <a:latin typeface="Calibri"/>
              </a:rPr>
              <a:t>compared by meaning</a:t>
            </a:r>
          </a:p>
          <a:p>
            <a:pPr algn="l"/>
            <a:r>
              <a:rPr sz="950" b="0" i="0">
                <a:solidFill>
                  <a:srgbClr val="63637E"/>
                </a:solidFill>
                <a:latin typeface="Calibri"/>
              </a:rPr>
              <a:t>our estimate; the official run uses a judge</a:t>
            </a:r>
          </a:p>
        </p:txBody>
      </p:sp>
      <p:cxnSp>
        <p:nvCxnSpPr>
          <p:cNvPr id="141" name="Connector 140"/>
          <p:cNvCxnSpPr/>
          <p:nvPr/>
        </p:nvCxnSpPr>
        <p:spPr>
          <a:xfrm>
            <a:off x="2770632" y="1463040"/>
            <a:ext cx="0" cy="777240"/>
          </a:xfrm>
          <a:prstGeom prst="line">
            <a:avLst/>
          </a:prstGeom>
          <a:ln w="12700">
            <a:solidFill>
              <a:srgbClr val="D9D3F0"/>
            </a:solidFill>
          </a:ln>
        </p:spPr>
        <p:style>
          <a:lnRef idx="2">
            <a:schemeClr val="accent1"/>
          </a:lnRef>
          <a:fillRef idx="0">
            <a:schemeClr val="accent1"/>
          </a:fillRef>
          <a:effectRef idx="1">
            <a:schemeClr val="accent1"/>
          </a:effectRef>
          <a:fontRef idx="minor">
            <a:schemeClr val="tx1"/>
          </a:fontRef>
        </p:style>
      </p:cxnSp>
      <p:sp>
        <p:nvSpPr>
          <p:cNvPr id="142" name="Rounded Rectangle 141"/>
          <p:cNvSpPr/>
          <p:nvPr/>
        </p:nvSpPr>
        <p:spPr>
          <a:xfrm>
            <a:off x="4846320" y="1234440"/>
            <a:ext cx="1531620" cy="1234440"/>
          </a:xfrm>
          <a:prstGeom prst="roundRect">
            <a:avLst>
              <a:gd name="adj" fmla="val 10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4956048" y="1389888"/>
            <a:ext cx="1330452" cy="1005840"/>
          </a:xfrm>
          <a:prstGeom prst="rect">
            <a:avLst/>
          </a:prstGeom>
          <a:noFill/>
        </p:spPr>
        <p:txBody>
          <a:bodyPr wrap="square" anchor="t" lIns="0" rIns="0" tIns="0" bIns="0"/>
          <a:lstStyle/>
          <a:p>
            <a:pPr algn="l"/>
            <a:r>
              <a:rPr sz="2200" b="1" i="0">
                <a:solidFill>
                  <a:srgbClr val="6D28D9"/>
                </a:solidFill>
                <a:latin typeface="Calibri"/>
              </a:rPr>
              <a:t>100%</a:t>
            </a:r>
          </a:p>
          <a:p>
            <a:pPr algn="l"/>
            <a:r>
              <a:rPr sz="1100" b="1" i="0">
                <a:solidFill>
                  <a:srgbClr val="14142B"/>
                </a:solidFill>
                <a:latin typeface="Calibri"/>
              </a:rPr>
              <a:t>turns answered</a:t>
            </a:r>
          </a:p>
          <a:p>
            <a:pPr algn="l"/>
            <a:r>
              <a:rPr sz="950" b="0" i="0">
                <a:solidFill>
                  <a:srgbClr val="63637E"/>
                </a:solidFill>
                <a:latin typeface="Calibri"/>
              </a:rPr>
              <a:t>same model in the paper: 78%</a:t>
            </a:r>
          </a:p>
        </p:txBody>
      </p:sp>
      <p:sp>
        <p:nvSpPr>
          <p:cNvPr id="144" name="Rounded Rectangle 143"/>
          <p:cNvSpPr/>
          <p:nvPr/>
        </p:nvSpPr>
        <p:spPr>
          <a:xfrm>
            <a:off x="6515100" y="1234440"/>
            <a:ext cx="1531620" cy="1234440"/>
          </a:xfrm>
          <a:prstGeom prst="roundRect">
            <a:avLst>
              <a:gd name="adj" fmla="val 10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6624828" y="1389888"/>
            <a:ext cx="1330452" cy="1005840"/>
          </a:xfrm>
          <a:prstGeom prst="rect">
            <a:avLst/>
          </a:prstGeom>
          <a:noFill/>
        </p:spPr>
        <p:txBody>
          <a:bodyPr wrap="square" anchor="t" lIns="0" rIns="0" tIns="0" bIns="0"/>
          <a:lstStyle/>
          <a:p>
            <a:pPr algn="l"/>
            <a:r>
              <a:rPr sz="2200" b="1" i="0">
                <a:solidFill>
                  <a:srgbClr val="6D28D9"/>
                </a:solidFill>
                <a:latin typeface="Calibri"/>
              </a:rPr>
              <a:t>5%</a:t>
            </a:r>
          </a:p>
          <a:p>
            <a:pPr algn="l"/>
            <a:r>
              <a:rPr sz="1100" b="1" i="0">
                <a:solidFill>
                  <a:srgbClr val="14142B"/>
                </a:solidFill>
                <a:latin typeface="Calibri"/>
              </a:rPr>
              <a:t>talks over the user</a:t>
            </a:r>
          </a:p>
          <a:p>
            <a:pPr algn="l"/>
            <a:r>
              <a:rPr sz="950" b="0" i="0">
                <a:solidFill>
                  <a:srgbClr val="63637E"/>
                </a:solidFill>
                <a:latin typeface="Calibri"/>
              </a:rPr>
              <a:t>same model in the paper: 19%</a:t>
            </a:r>
          </a:p>
        </p:txBody>
      </p:sp>
      <p:sp>
        <p:nvSpPr>
          <p:cNvPr id="146" name="Rounded Rectangle 145"/>
          <p:cNvSpPr/>
          <p:nvPr/>
        </p:nvSpPr>
        <p:spPr>
          <a:xfrm>
            <a:off x="8183879" y="1234440"/>
            <a:ext cx="1531620" cy="1234440"/>
          </a:xfrm>
          <a:prstGeom prst="roundRect">
            <a:avLst>
              <a:gd name="adj" fmla="val 10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8293607" y="1389888"/>
            <a:ext cx="1330452" cy="1005840"/>
          </a:xfrm>
          <a:prstGeom prst="rect">
            <a:avLst/>
          </a:prstGeom>
          <a:noFill/>
        </p:spPr>
        <p:txBody>
          <a:bodyPr wrap="square" anchor="t" lIns="0" rIns="0" tIns="0" bIns="0"/>
          <a:lstStyle/>
          <a:p>
            <a:pPr algn="l"/>
            <a:r>
              <a:rPr sz="2200" b="1" i="0">
                <a:solidFill>
                  <a:srgbClr val="6D28D9"/>
                </a:solidFill>
                <a:latin typeface="Calibri"/>
              </a:rPr>
              <a:t>89%</a:t>
            </a:r>
          </a:p>
          <a:p>
            <a:pPr algn="l"/>
            <a:r>
              <a:rPr sz="1100" b="1" i="0">
                <a:solidFill>
                  <a:srgbClr val="14142B"/>
                </a:solidFill>
                <a:latin typeface="Calibri"/>
              </a:rPr>
              <a:t>right tool chosen</a:t>
            </a:r>
          </a:p>
          <a:p>
            <a:pPr algn="l"/>
            <a:r>
              <a:rPr sz="950" b="0" i="0">
                <a:solidFill>
                  <a:srgbClr val="63637E"/>
                </a:solidFill>
                <a:latin typeface="Calibri"/>
              </a:rPr>
              <a:t>on answered turns</a:t>
            </a:r>
          </a:p>
        </p:txBody>
      </p:sp>
      <p:sp>
        <p:nvSpPr>
          <p:cNvPr id="148" name="Rounded Rectangle 147"/>
          <p:cNvSpPr/>
          <p:nvPr/>
        </p:nvSpPr>
        <p:spPr>
          <a:xfrm>
            <a:off x="9852660" y="1234440"/>
            <a:ext cx="1531620" cy="1234440"/>
          </a:xfrm>
          <a:prstGeom prst="roundRect">
            <a:avLst>
              <a:gd name="adj" fmla="val 10000"/>
            </a:avLst>
          </a:prstGeom>
          <a:solidFill>
            <a:srgbClr val="FD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9962388" y="1389888"/>
            <a:ext cx="1330452" cy="1005840"/>
          </a:xfrm>
          <a:prstGeom prst="rect">
            <a:avLst/>
          </a:prstGeom>
          <a:noFill/>
        </p:spPr>
        <p:txBody>
          <a:bodyPr wrap="square" anchor="t" lIns="0" rIns="0" tIns="0" bIns="0"/>
          <a:lstStyle/>
          <a:p>
            <a:pPr algn="l"/>
            <a:r>
              <a:rPr sz="2200" b="1" i="0">
                <a:solidFill>
                  <a:srgbClr val="C02626"/>
                </a:solidFill>
                <a:latin typeface="Calibri"/>
              </a:rPr>
              <a:t>4.2 s</a:t>
            </a:r>
          </a:p>
          <a:p>
            <a:pPr algn="l"/>
            <a:r>
              <a:rPr sz="1100" b="1" i="0">
                <a:solidFill>
                  <a:srgbClr val="14142B"/>
                </a:solidFill>
                <a:latin typeface="Calibri"/>
              </a:rPr>
              <a:t>first reply, median</a:t>
            </a:r>
          </a:p>
          <a:p>
            <a:pPr algn="l"/>
            <a:r>
              <a:rPr sz="950" b="0" i="0">
                <a:solidFill>
                  <a:srgbClr val="63637E"/>
                </a:solidFill>
                <a:latin typeface="Calibri"/>
              </a:rPr>
              <a:t>fix in progress: an instant “one moment”</a:t>
            </a:r>
          </a:p>
        </p:txBody>
      </p:sp>
      <p:sp>
        <p:nvSpPr>
          <p:cNvPr id="150" name="TextBox 149"/>
          <p:cNvSpPr txBox="1"/>
          <p:nvPr/>
        </p:nvSpPr>
        <p:spPr>
          <a:xfrm>
            <a:off x="822960" y="2542032"/>
            <a:ext cx="10561320" cy="411480"/>
          </a:xfrm>
          <a:prstGeom prst="rect">
            <a:avLst/>
          </a:prstGeom>
          <a:noFill/>
        </p:spPr>
        <p:txBody>
          <a:bodyPr wrap="square" anchor="t" lIns="0" rIns="0" tIns="0" bIns="0"/>
          <a:lstStyle/>
          <a:p>
            <a:pPr algn="l"/>
            <a:r>
              <a:rPr sz="1000" b="0" i="1">
                <a:solidFill>
                  <a:srgbClr val="63637E"/>
                </a:solidFill>
                <a:latin typeface="Calibri"/>
              </a:rPr>
              <a:t>Full run of all 100 benchmark recordings on Gemini Live 3.1 after this week’s fixes (run 20260928T211335). Our first full run, before them, scored 43/100 strict.</a:t>
            </a:r>
          </a:p>
        </p:txBody>
      </p:sp>
      <p:sp>
        <p:nvSpPr>
          <p:cNvPr id="151" name="Rounded Rectangle 150"/>
          <p:cNvSpPr/>
          <p:nvPr/>
        </p:nvSpPr>
        <p:spPr>
          <a:xfrm>
            <a:off x="822960" y="3017520"/>
            <a:ext cx="3749039" cy="3291840"/>
          </a:xfrm>
          <a:prstGeom prst="roundRect">
            <a:avLst>
              <a:gd name="adj" fmla="val 5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005840" y="3108960"/>
            <a:ext cx="3474720" cy="274320"/>
          </a:xfrm>
          <a:prstGeom prst="rect">
            <a:avLst/>
          </a:prstGeom>
          <a:noFill/>
        </p:spPr>
        <p:txBody>
          <a:bodyPr wrap="square" anchor="t" lIns="0" rIns="0" tIns="0" bIns="0"/>
          <a:lstStyle/>
          <a:p>
            <a:pPr algn="l"/>
            <a:r>
              <a:rPr sz="1300" b="1" i="0">
                <a:solidFill>
                  <a:srgbClr val="14142B"/>
                </a:solidFill>
                <a:latin typeface="Calibri"/>
              </a:rPr>
              <a:t>Same model, same test</a:t>
            </a:r>
          </a:p>
        </p:txBody>
      </p:sp>
      <p:graphicFrame>
        <p:nvGraphicFramePr>
          <p:cNvPr id="153" name="Chart 152"/>
          <p:cNvGraphicFramePr>
            <a:graphicFrameLocks noGrp="1"/>
          </p:cNvGraphicFramePr>
          <p:nvPr/>
        </p:nvGraphicFramePr>
        <p:xfrm>
          <a:off x="868680" y="3401568"/>
          <a:ext cx="3657600" cy="2852928"/>
        </p:xfrm>
        <a:graphic>
          <a:graphicData uri="http://schemas.openxmlformats.org/drawingml/2006/chart">
            <c:chart r:id="rId3"/>
          </a:graphicData>
        </a:graphic>
      </p:graphicFrame>
      <p:sp>
        <p:nvSpPr>
          <p:cNvPr id="154" name="Rounded Rectangle 153"/>
          <p:cNvSpPr/>
          <p:nvPr/>
        </p:nvSpPr>
        <p:spPr>
          <a:xfrm>
            <a:off x="4754880" y="3017520"/>
            <a:ext cx="3520440" cy="3291840"/>
          </a:xfrm>
          <a:prstGeom prst="roundRect">
            <a:avLst>
              <a:gd name="adj" fmla="val 5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937760" y="3108960"/>
            <a:ext cx="3200400" cy="274320"/>
          </a:xfrm>
          <a:prstGeom prst="rect">
            <a:avLst/>
          </a:prstGeom>
          <a:noFill/>
        </p:spPr>
        <p:txBody>
          <a:bodyPr wrap="square" anchor="t" lIns="0" rIns="0" tIns="0" bIns="0"/>
          <a:lstStyle/>
          <a:p>
            <a:pPr algn="l"/>
            <a:r>
              <a:rPr sz="1300" b="1" i="0">
                <a:solidFill>
                  <a:srgbClr val="14142B"/>
                </a:solidFill>
                <a:latin typeface="Calibri"/>
              </a:rPr>
              <a:t>Before and after our fixes</a:t>
            </a:r>
          </a:p>
        </p:txBody>
      </p:sp>
      <p:graphicFrame>
        <p:nvGraphicFramePr>
          <p:cNvPr id="156" name="Chart 155"/>
          <p:cNvGraphicFramePr>
            <a:graphicFrameLocks noGrp="1"/>
          </p:cNvGraphicFramePr>
          <p:nvPr/>
        </p:nvGraphicFramePr>
        <p:xfrm>
          <a:off x="4800600" y="3401568"/>
          <a:ext cx="3429000" cy="2852928"/>
        </p:xfrm>
        <a:graphic>
          <a:graphicData uri="http://schemas.openxmlformats.org/drawingml/2006/chart">
            <c:chart r:id="rId4"/>
          </a:graphicData>
        </a:graphic>
      </p:graphicFrame>
      <p:sp>
        <p:nvSpPr>
          <p:cNvPr id="157" name="Rounded Rectangle 156"/>
          <p:cNvSpPr/>
          <p:nvPr/>
        </p:nvSpPr>
        <p:spPr>
          <a:xfrm>
            <a:off x="8458200" y="3017520"/>
            <a:ext cx="2926080" cy="3291840"/>
          </a:xfrm>
          <a:prstGeom prst="roundRect">
            <a:avLst>
              <a:gd name="adj" fmla="val 5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8641080" y="3108960"/>
            <a:ext cx="2651760" cy="274320"/>
          </a:xfrm>
          <a:prstGeom prst="rect">
            <a:avLst/>
          </a:prstGeom>
          <a:noFill/>
        </p:spPr>
        <p:txBody>
          <a:bodyPr wrap="square" anchor="t" lIns="0" rIns="0" tIns="0" bIns="0"/>
          <a:lstStyle/>
          <a:p>
            <a:pPr algn="l"/>
            <a:r>
              <a:rPr sz="1300" b="1" i="0">
                <a:solidFill>
                  <a:srgbClr val="6D28D9"/>
                </a:solidFill>
                <a:latin typeface="Calibri"/>
              </a:rPr>
              <a:t>What’s new</a:t>
            </a:r>
          </a:p>
        </p:txBody>
      </p:sp>
      <p:sp>
        <p:nvSpPr>
          <p:cNvPr id="159" name="TextBox 158"/>
          <p:cNvSpPr txBox="1"/>
          <p:nvPr/>
        </p:nvSpPr>
        <p:spPr>
          <a:xfrm>
            <a:off x="8641080" y="3474720"/>
            <a:ext cx="2606040" cy="2194560"/>
          </a:xfrm>
          <a:prstGeom prst="rect">
            <a:avLst/>
          </a:prstGeom>
          <a:noFill/>
        </p:spPr>
        <p:txBody>
          <a:bodyPr wrap="square" anchor="t" lIns="0" rIns="0" tIns="0" bIns="0"/>
          <a:lstStyle/>
          <a:p>
            <a:pPr algn="l">
              <a:spcAft>
                <a:spcPts val="500"/>
              </a:spcAft>
            </a:pPr>
            <a:r>
              <a:rPr sz="1300" b="1" i="0">
                <a:solidFill>
                  <a:srgbClr val="14142B"/>
                </a:solidFill>
                <a:latin typeface="Calibri"/>
              </a:rPr>
              <a:t>Acts on the final intent</a:t>
            </a:r>
          </a:p>
          <a:p>
            <a:pPr algn="l">
              <a:spcAft>
                <a:spcPts val="500"/>
              </a:spcAft>
            </a:pPr>
            <a:r>
              <a:rPr sz="1200" b="0" i="0">
                <a:solidFill>
                  <a:srgbClr val="63637E"/>
                </a:solidFill>
                <a:latin typeface="Calibri"/>
              </a:rPr>
              <a:t>actions wait for the user, and taken-back ones never run</a:t>
            </a:r>
          </a:p>
          <a:p>
            <a:pPr algn="l">
              <a:spcAft>
                <a:spcPts val="500"/>
              </a:spcAft>
            </a:pPr>
            <a:r>
              <a:rPr sz="1300" b="1" i="0">
                <a:solidFill>
                  <a:srgbClr val="14142B"/>
                </a:solidFill>
                <a:latin typeface="Calibri"/>
              </a:rPr>
              <a:t>Knows what “oh, wait” means</a:t>
            </a:r>
          </a:p>
          <a:p>
            <a:pPr algn="l">
              <a:spcAft>
                <a:spcPts val="500"/>
              </a:spcAft>
            </a:pPr>
            <a:r>
              <a:rPr sz="1200" b="0" i="0">
                <a:solidFill>
                  <a:srgbClr val="63637E"/>
                </a:solidFill>
                <a:latin typeface="Calibri"/>
              </a:rPr>
              <a:t>it waits for the correction that follows</a:t>
            </a:r>
          </a:p>
          <a:p>
            <a:pPr algn="l">
              <a:spcAft>
                <a:spcPts val="500"/>
              </a:spcAft>
            </a:pPr>
            <a:r>
              <a:rPr sz="1300" b="1" i="0">
                <a:solidFill>
                  <a:srgbClr val="14142B"/>
                </a:solidFill>
                <a:latin typeface="Calibri"/>
              </a:rPr>
              <a:t>Works with any model</a:t>
            </a:r>
          </a:p>
          <a:p>
            <a:pPr algn="l">
              <a:spcAft>
                <a:spcPts val="500"/>
              </a:spcAft>
            </a:pPr>
            <a:r>
              <a:rPr sz="1200" b="0" i="0">
                <a:solidFill>
                  <a:srgbClr val="63637E"/>
                </a:solidFill>
                <a:latin typeface="Calibri"/>
              </a:rPr>
              <a:t>cascaded, realtime or fully local</a:t>
            </a:r>
          </a:p>
        </p:txBody>
      </p:sp>
      <p:sp>
        <p:nvSpPr>
          <p:cNvPr id="160" name="Rounded Rectangle 159">
            <a:hlinkClick action="ppaction://hlinksldjump" r:id="rId5"/>
          </p:cNvPr>
          <p:cNvSpPr/>
          <p:nvPr/>
        </p:nvSpPr>
        <p:spPr>
          <a:xfrm>
            <a:off x="8641080" y="5742432"/>
            <a:ext cx="2560320" cy="384048"/>
          </a:xfrm>
          <a:prstGeom prst="roundRect">
            <a:avLst>
              <a:gd name="adj" fmla="val 50000"/>
            </a:avLst>
          </a:prstGeom>
          <a:solidFill>
            <a:srgbClr val="FDE2E2"/>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100" b="1" i="0">
                <a:solidFill>
                  <a:srgbClr val="C02626"/>
                </a:solidFill>
                <a:latin typeface="Calibri"/>
              </a:rPr>
              <a:t>Where we’re still weak →</a:t>
            </a:r>
          </a:p>
        </p:txBody>
      </p:sp>
      <p:sp>
        <p:nvSpPr>
          <p:cNvPr id="161" name="Rounded Rectangle 160">
            <a:hlinkClick action="ppaction://hlinksldjump" r:id="rId6"/>
          </p:cNvPr>
          <p:cNvSpPr/>
          <p:nvPr/>
        </p:nvSpPr>
        <p:spPr>
          <a:xfrm>
            <a:off x="841248"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162" name="Rounded Rectangle 161">
            <a:hlinkClick action="ppaction://hlinksldjump" r:id="rId7"/>
          </p:cNvPr>
          <p:cNvSpPr/>
          <p:nvPr/>
        </p:nvSpPr>
        <p:spPr>
          <a:xfrm>
            <a:off x="2359151"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163" name="Rounded Rectangle 162">
            <a:hlinkClick action="ppaction://hlinksldjump" r:id="rId8"/>
          </p:cNvPr>
          <p:cNvSpPr/>
          <p:nvPr/>
        </p:nvSpPr>
        <p:spPr>
          <a:xfrm>
            <a:off x="3877055"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164" name="Rounded Rectangle 163">
            <a:hlinkClick action="ppaction://hlinksldjump" r:id="rId9"/>
          </p:cNvPr>
          <p:cNvSpPr/>
          <p:nvPr/>
        </p:nvSpPr>
        <p:spPr>
          <a:xfrm>
            <a:off x="5394959"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67" name="Rounded Rectangle 166">
            <a:hlinkClick action="ppaction://hlinksldjump" r:id="rId12"/>
          </p:cNvPr>
          <p:cNvSpPr/>
          <p:nvPr/>
        </p:nvSpPr>
        <p:spPr>
          <a:xfrm>
            <a:off x="6912863"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168" name="Rounded Rectangle 167"/>
          <p:cNvSpPr/>
          <p:nvPr/>
        </p:nvSpPr>
        <p:spPr>
          <a:xfrm>
            <a:off x="8430767" y="6464808"/>
            <a:ext cx="1408175"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Results</a:t>
            </a:r>
          </a:p>
        </p:txBody>
      </p:sp>
      <p:sp>
        <p:nvSpPr>
          <p:cNvPr id="169" name="Rounded Rectangle 168">
            <a:hlinkClick action="ppaction://hlinksldjump" r:id="rId5"/>
          </p:cNvPr>
          <p:cNvSpPr/>
          <p:nvPr/>
        </p:nvSpPr>
        <p:spPr>
          <a:xfrm>
            <a:off x="9948671"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Next</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type="title"/>
          </p:nvPr>
        </p:nvSpPr>
        <p:spPr>
          <a:xfrm>
            <a:off x="838200" y="274320"/>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3600" i="0">
                <a:solidFill>
                  <a:srgbClr val="704EA6"/>
                </a:solidFill>
                <a:latin typeface="Calibri"/>
                <a:ea typeface="Calibri"/>
                <a:cs typeface="Calibri"/>
                <a:sym typeface="Calibri"/>
              </a:rPr>
              <a:t>What’s next</a:t>
            </a:r>
            <a:endParaRPr b="1" sz="4400">
              <a:solidFill>
                <a:srgbClr val="704EA6"/>
              </a:solidFill>
            </a:endParaRPr>
          </a:p>
        </p:txBody>
      </p:sp>
      <p:sp>
        <p:nvSpPr>
          <p:cNvPr id="144" name="TextBox 143"/>
          <p:cNvSpPr txBox="1"/>
          <p:nvPr/>
        </p:nvSpPr>
        <p:spPr>
          <a:xfrm>
            <a:off x="822960" y="1188720"/>
            <a:ext cx="6949440" cy="365760"/>
          </a:xfrm>
          <a:prstGeom prst="rect">
            <a:avLst/>
          </a:prstGeom>
          <a:noFill/>
        </p:spPr>
        <p:txBody>
          <a:bodyPr wrap="square" anchor="t" lIns="0" rIns="0" tIns="0" bIns="0"/>
          <a:lstStyle/>
          <a:p>
            <a:pPr algn="l"/>
            <a:r>
              <a:rPr sz="1800" b="1" i="0">
                <a:solidFill>
                  <a:srgbClr val="14142B"/>
                </a:solidFill>
                <a:latin typeface="Calibri"/>
              </a:rPr>
              <a:t>What we’re still working on</a:t>
            </a:r>
          </a:p>
        </p:txBody>
      </p:sp>
      <p:sp>
        <p:nvSpPr>
          <p:cNvPr id="145" name="Rounded Rectangle 144"/>
          <p:cNvSpPr/>
          <p:nvPr/>
        </p:nvSpPr>
        <p:spPr>
          <a:xfrm>
            <a:off x="822960" y="1645920"/>
            <a:ext cx="6995160" cy="109728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987552" y="1920240"/>
            <a:ext cx="548640" cy="548640"/>
          </a:xfrm>
          <a:prstGeom prst="ellipse">
            <a:avLst/>
          </a:prstGeom>
          <a:solidFill>
            <a:srgbClr val="FD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7" name="Picture 146" descr="timer.png"/>
          <p:cNvPicPr>
            <a:picLocks noChangeAspect="1"/>
          </p:cNvPicPr>
          <p:nvPr/>
        </p:nvPicPr>
        <p:blipFill>
          <a:blip r:embed="rId3"/>
          <a:stretch>
            <a:fillRect/>
          </a:stretch>
        </p:blipFill>
        <p:spPr>
          <a:xfrm>
            <a:off x="1097280" y="2029968"/>
            <a:ext cx="329184" cy="329184"/>
          </a:xfrm>
          <a:prstGeom prst="rect">
            <a:avLst/>
          </a:prstGeom>
        </p:spPr>
      </p:pic>
      <p:sp>
        <p:nvSpPr>
          <p:cNvPr id="148" name="TextBox 147"/>
          <p:cNvSpPr txBox="1"/>
          <p:nvPr/>
        </p:nvSpPr>
        <p:spPr>
          <a:xfrm>
            <a:off x="1719072" y="1737360"/>
            <a:ext cx="5943600" cy="960120"/>
          </a:xfrm>
          <a:prstGeom prst="rect">
            <a:avLst/>
          </a:prstGeom>
          <a:noFill/>
        </p:spPr>
        <p:txBody>
          <a:bodyPr wrap="square" anchor="t" lIns="0" rIns="0" tIns="0" bIns="0"/>
          <a:lstStyle/>
          <a:p>
            <a:pPr algn="l">
              <a:spcAft>
                <a:spcPts val="400"/>
              </a:spcAft>
            </a:pPr>
            <a:r>
              <a:rPr sz="1350" b="1" i="0">
                <a:solidFill>
                  <a:srgbClr val="14142B"/>
                </a:solidFill>
                <a:latin typeface="Calibri"/>
              </a:rPr>
              <a:t>Speed  </a:t>
            </a:r>
            <a:r>
              <a:rPr sz="1150" b="0" i="0">
                <a:solidFill>
                  <a:srgbClr val="63637E"/>
                </a:solidFill>
                <a:latin typeface="Calibri"/>
              </a:rPr>
              <a:t>The first reply comes after 5.1 s on average; the paper’s Gemini Live 3.1 manages 3.95 s. Keel’s own wait is 0.6 s of it (median).</a:t>
            </a:r>
          </a:p>
          <a:p>
            <a:pPr algn="l">
              <a:spcAft>
                <a:spcPts val="400"/>
              </a:spcAft>
            </a:pPr>
            <a:r>
              <a:rPr sz="1150" b="1" i="0">
                <a:solidFill>
                  <a:srgbClr val="6D28D9"/>
                </a:solidFill>
                <a:latin typeface="Calibri"/>
              </a:rPr>
              <a:t>We’re working on: </a:t>
            </a:r>
            <a:r>
              <a:rPr sz="1150" b="0" i="0">
                <a:solidFill>
                  <a:srgbClr val="14142B"/>
                </a:solidFill>
                <a:latin typeface="Calibri"/>
              </a:rPr>
              <a:t>Say a short “one moment” straight away, and find out why the end of a turn is reported late.</a:t>
            </a:r>
          </a:p>
        </p:txBody>
      </p:sp>
      <p:sp>
        <p:nvSpPr>
          <p:cNvPr id="149" name="Rounded Rectangle 148"/>
          <p:cNvSpPr/>
          <p:nvPr/>
        </p:nvSpPr>
        <p:spPr>
          <a:xfrm>
            <a:off x="822960" y="2834640"/>
            <a:ext cx="6995160" cy="109728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987552" y="3108960"/>
            <a:ext cx="548640" cy="5486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1" name="Picture 150" descr="list-checks.png"/>
          <p:cNvPicPr>
            <a:picLocks noChangeAspect="1"/>
          </p:cNvPicPr>
          <p:nvPr/>
        </p:nvPicPr>
        <p:blipFill>
          <a:blip r:embed="rId4"/>
          <a:stretch>
            <a:fillRect/>
          </a:stretch>
        </p:blipFill>
        <p:spPr>
          <a:xfrm>
            <a:off x="1097280" y="3218688"/>
            <a:ext cx="329184" cy="329184"/>
          </a:xfrm>
          <a:prstGeom prst="rect">
            <a:avLst/>
          </a:prstGeom>
        </p:spPr>
      </p:pic>
      <p:sp>
        <p:nvSpPr>
          <p:cNvPr id="152" name="TextBox 151"/>
          <p:cNvSpPr txBox="1"/>
          <p:nvPr/>
        </p:nvSpPr>
        <p:spPr>
          <a:xfrm>
            <a:off x="1719072" y="2926080"/>
            <a:ext cx="5943600" cy="960120"/>
          </a:xfrm>
          <a:prstGeom prst="rect">
            <a:avLst/>
          </a:prstGeom>
          <a:noFill/>
        </p:spPr>
        <p:txBody>
          <a:bodyPr wrap="square" anchor="t" lIns="0" rIns="0" tIns="0" bIns="0"/>
          <a:lstStyle/>
          <a:p>
            <a:pPr algn="l">
              <a:spcAft>
                <a:spcPts val="400"/>
              </a:spcAft>
            </a:pPr>
            <a:r>
              <a:rPr sz="1350" b="1" i="0">
                <a:solidFill>
                  <a:srgbClr val="14142B"/>
                </a:solidFill>
                <a:latin typeface="Calibri"/>
              </a:rPr>
              <a:t>Right answers, written differently  </a:t>
            </a:r>
            <a:r>
              <a:rPr sz="1150" b="0" i="0">
                <a:solidFill>
                  <a:srgbClr val="63637E"/>
                </a:solidFill>
                <a:latin typeface="Calibri"/>
              </a:rPr>
              <a:t>18 of our misses are correct answers in another format, like “2026-07-15” for “July 15”, the format the tool itself asks for.</a:t>
            </a:r>
          </a:p>
          <a:p>
            <a:pPr algn="l">
              <a:spcAft>
                <a:spcPts val="400"/>
              </a:spcAft>
            </a:pPr>
            <a:r>
              <a:rPr sz="1150" b="1" i="0">
                <a:solidFill>
                  <a:srgbClr val="6D28D9"/>
                </a:solidFill>
                <a:latin typeface="Calibri"/>
              </a:rPr>
              <a:t>What to expect: </a:t>
            </a:r>
            <a:r>
              <a:rPr sz="1150" b="0" i="0">
                <a:solidFill>
                  <a:srgbClr val="14142B"/>
                </a:solidFill>
                <a:latin typeface="Calibri"/>
              </a:rPr>
              <a:t>The official judge compares by meaning and accepts other date formats; counting those gives 66/100.</a:t>
            </a:r>
          </a:p>
        </p:txBody>
      </p:sp>
      <p:sp>
        <p:nvSpPr>
          <p:cNvPr id="153" name="Rounded Rectangle 152"/>
          <p:cNvSpPr/>
          <p:nvPr/>
        </p:nvSpPr>
        <p:spPr>
          <a:xfrm>
            <a:off x="822960" y="4023360"/>
            <a:ext cx="6995160" cy="109728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987552" y="4297680"/>
            <a:ext cx="548640" cy="5486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triangle-alert.png"/>
          <p:cNvPicPr>
            <a:picLocks noChangeAspect="1"/>
          </p:cNvPicPr>
          <p:nvPr/>
        </p:nvPicPr>
        <p:blipFill>
          <a:blip r:embed="rId5"/>
          <a:stretch>
            <a:fillRect/>
          </a:stretch>
        </p:blipFill>
        <p:spPr>
          <a:xfrm>
            <a:off x="1097280" y="4407408"/>
            <a:ext cx="329184" cy="329184"/>
          </a:xfrm>
          <a:prstGeom prst="rect">
            <a:avLst/>
          </a:prstGeom>
        </p:spPr>
      </p:pic>
      <p:sp>
        <p:nvSpPr>
          <p:cNvPr id="156" name="TextBox 155"/>
          <p:cNvSpPr txBox="1"/>
          <p:nvPr/>
        </p:nvSpPr>
        <p:spPr>
          <a:xfrm>
            <a:off x="1719072" y="4114800"/>
            <a:ext cx="5943600" cy="960120"/>
          </a:xfrm>
          <a:prstGeom prst="rect">
            <a:avLst/>
          </a:prstGeom>
          <a:noFill/>
        </p:spPr>
        <p:txBody>
          <a:bodyPr wrap="square" anchor="t" lIns="0" rIns="0" tIns="0" bIns="0"/>
          <a:lstStyle/>
          <a:p>
            <a:pPr algn="l">
              <a:spcAft>
                <a:spcPts val="400"/>
              </a:spcAft>
            </a:pPr>
            <a:r>
              <a:rPr sz="1350" b="1" i="0">
                <a:solidFill>
                  <a:srgbClr val="14142B"/>
                </a:solidFill>
                <a:latin typeface="Calibri"/>
              </a:rPr>
              <a:t>Silent turns  </a:t>
            </a:r>
            <a:r>
              <a:rPr sz="1150" b="0" i="0">
                <a:solidFill>
                  <a:srgbClr val="63637E"/>
                </a:solidFill>
                <a:latin typeface="Calibri"/>
              </a:rPr>
              <a:t>Every conversation got a reply in our latest run (first run: 16 silent; the paper: 22 on the same model).</a:t>
            </a:r>
          </a:p>
          <a:p>
            <a:pPr algn="l">
              <a:spcAft>
                <a:spcPts val="400"/>
              </a:spcAft>
            </a:pPr>
            <a:r>
              <a:rPr sz="1150" b="1" i="0">
                <a:solidFill>
                  <a:srgbClr val="6D28D9"/>
                </a:solidFill>
                <a:latin typeface="Calibri"/>
              </a:rPr>
              <a:t>What we did: </a:t>
            </a:r>
            <a:r>
              <a:rPr sz="1150" b="0" i="0">
                <a:solidFill>
                  <a:srgbClr val="14142B"/>
                </a:solidFill>
                <a:latin typeface="Calibri"/>
              </a:rPr>
              <a:t>In our first run 9 were our network: the agent joined after the caller had finished. We stopped the background uploads competing with the audio and let the agent take calls while the machine is busy. Since then: no late joins.</a:t>
            </a:r>
          </a:p>
        </p:txBody>
      </p:sp>
      <p:sp>
        <p:nvSpPr>
          <p:cNvPr id="157" name="Rounded Rectangle 156"/>
          <p:cNvSpPr/>
          <p:nvPr/>
        </p:nvSpPr>
        <p:spPr>
          <a:xfrm>
            <a:off x="822960" y="5212080"/>
            <a:ext cx="6995160" cy="1097280"/>
          </a:xfrm>
          <a:prstGeom prst="roundRect">
            <a:avLst>
              <a:gd name="adj" fmla="val 10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987552" y="5486400"/>
            <a:ext cx="548640" cy="54864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Picture 158" descr="repeat.png"/>
          <p:cNvPicPr>
            <a:picLocks noChangeAspect="1"/>
          </p:cNvPicPr>
          <p:nvPr/>
        </p:nvPicPr>
        <p:blipFill>
          <a:blip r:embed="rId6"/>
          <a:stretch>
            <a:fillRect/>
          </a:stretch>
        </p:blipFill>
        <p:spPr>
          <a:xfrm>
            <a:off x="1097280" y="5596128"/>
            <a:ext cx="329184" cy="329184"/>
          </a:xfrm>
          <a:prstGeom prst="rect">
            <a:avLst/>
          </a:prstGeom>
        </p:spPr>
      </p:pic>
      <p:sp>
        <p:nvSpPr>
          <p:cNvPr id="160" name="TextBox 159"/>
          <p:cNvSpPr txBox="1"/>
          <p:nvPr/>
        </p:nvSpPr>
        <p:spPr>
          <a:xfrm>
            <a:off x="1719072" y="5303520"/>
            <a:ext cx="5943600" cy="960120"/>
          </a:xfrm>
          <a:prstGeom prst="rect">
            <a:avLst/>
          </a:prstGeom>
          <a:noFill/>
        </p:spPr>
        <p:txBody>
          <a:bodyPr wrap="square" anchor="t" lIns="0" rIns="0" tIns="0" bIns="0"/>
          <a:lstStyle/>
          <a:p>
            <a:pPr algn="l">
              <a:spcAft>
                <a:spcPts val="400"/>
              </a:spcAft>
            </a:pPr>
            <a:r>
              <a:rPr sz="1350" b="1" i="0">
                <a:solidFill>
                  <a:srgbClr val="14142B"/>
                </a:solidFill>
                <a:latin typeface="Calibri"/>
              </a:rPr>
              <a:t>Self-corrections  </a:t>
            </a:r>
            <a:r>
              <a:rPr sz="1150" b="0" i="0">
                <a:solidFill>
                  <a:srgbClr val="63637E"/>
                </a:solidFill>
                <a:latin typeface="Calibri"/>
              </a:rPr>
              <a:t>Now 53% with word-for-word matching (first run: 24%).</a:t>
            </a:r>
          </a:p>
          <a:p>
            <a:pPr algn="l">
              <a:spcAft>
                <a:spcPts val="400"/>
              </a:spcAft>
            </a:pPr>
            <a:r>
              <a:rPr sz="1150" b="1" i="0">
                <a:solidFill>
                  <a:srgbClr val="6D28D9"/>
                </a:solidFill>
                <a:latin typeface="Calibri"/>
              </a:rPr>
              <a:t>We’re working on: </a:t>
            </a:r>
            <a:r>
              <a:rPr sz="1150" b="0" i="0">
                <a:solidFill>
                  <a:srgbClr val="14142B"/>
                </a:solidFill>
                <a:latin typeface="Calibri"/>
              </a:rPr>
              <a:t>Measuring how long to wait after “oh, wait” on fresh recordings, never on the test set.</a:t>
            </a:r>
          </a:p>
        </p:txBody>
      </p:sp>
      <p:pic>
        <p:nvPicPr>
          <p:cNvPr id="161" name="Picture 160" descr="path.png"/>
          <p:cNvPicPr>
            <a:picLocks noChangeAspect="1"/>
          </p:cNvPicPr>
          <p:nvPr/>
        </p:nvPicPr>
        <p:blipFill>
          <a:blip r:embed="rId7"/>
          <a:srcRect l="123" r="123"/>
          <a:stretch>
            <a:fillRect/>
          </a:stretch>
        </p:blipFill>
        <p:spPr>
          <a:xfrm>
            <a:off x="8092440" y="1188720"/>
            <a:ext cx="3291840" cy="1856231"/>
          </a:xfrm>
          <a:prstGeom prst="roundRect">
            <a:avLst>
              <a:gd name="adj" fmla="val 4000"/>
            </a:avLst>
          </a:prstGeom>
          <a:ln w="12700">
            <a:solidFill>
              <a:srgbClr val="D9D3F0"/>
            </a:solidFill>
          </a:ln>
        </p:spPr>
      </p:pic>
      <p:sp>
        <p:nvSpPr>
          <p:cNvPr id="162" name="TextBox 161"/>
          <p:cNvSpPr txBox="1"/>
          <p:nvPr/>
        </p:nvSpPr>
        <p:spPr>
          <a:xfrm>
            <a:off x="8092440" y="3063240"/>
            <a:ext cx="3291840" cy="182880"/>
          </a:xfrm>
          <a:prstGeom prst="rect">
            <a:avLst/>
          </a:prstGeom>
          <a:noFill/>
        </p:spPr>
        <p:txBody>
          <a:bodyPr wrap="square" anchor="t" lIns="0" rIns="0" tIns="0" bIns="0"/>
          <a:lstStyle/>
          <a:p>
            <a:pPr algn="r"/>
            <a:r>
              <a:rPr sz="850" b="0" i="1">
                <a:solidFill>
                  <a:srgbClr val="9A9AB0"/>
                </a:solidFill>
                <a:latin typeface="Calibri"/>
              </a:rPr>
              <a:t>Illustration, AI-generated</a:t>
            </a:r>
          </a:p>
        </p:txBody>
      </p:sp>
      <p:sp>
        <p:nvSpPr>
          <p:cNvPr id="163" name="TextBox 162"/>
          <p:cNvSpPr txBox="1"/>
          <p:nvPr/>
        </p:nvSpPr>
        <p:spPr>
          <a:xfrm>
            <a:off x="8092440" y="3310128"/>
            <a:ext cx="3291840" cy="320040"/>
          </a:xfrm>
          <a:prstGeom prst="rect">
            <a:avLst/>
          </a:prstGeom>
          <a:noFill/>
        </p:spPr>
        <p:txBody>
          <a:bodyPr wrap="square" anchor="t" lIns="0" rIns="0" tIns="0" bIns="0"/>
          <a:lstStyle/>
          <a:p>
            <a:pPr algn="l"/>
            <a:r>
              <a:rPr sz="1400" b="1" i="0">
                <a:solidFill>
                  <a:srgbClr val="6D28D9"/>
                </a:solidFill>
                <a:latin typeface="Calibri"/>
              </a:rPr>
              <a:t>Coming up</a:t>
            </a:r>
          </a:p>
        </p:txBody>
      </p:sp>
      <p:sp>
        <p:nvSpPr>
          <p:cNvPr id="164" name="Oval 163"/>
          <p:cNvSpPr/>
          <p:nvPr/>
        </p:nvSpPr>
        <p:spPr>
          <a:xfrm>
            <a:off x="8092440" y="370332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5" name="Picture 164" descr="chart-column.png"/>
          <p:cNvPicPr>
            <a:picLocks noChangeAspect="1"/>
          </p:cNvPicPr>
          <p:nvPr/>
        </p:nvPicPr>
        <p:blipFill>
          <a:blip r:embed="rId8"/>
          <a:stretch>
            <a:fillRect/>
          </a:stretch>
        </p:blipFill>
        <p:spPr>
          <a:xfrm>
            <a:off x="8183879" y="3794759"/>
            <a:ext cx="274320" cy="274320"/>
          </a:xfrm>
          <a:prstGeom prst="rect">
            <a:avLst/>
          </a:prstGeom>
        </p:spPr>
      </p:pic>
      <p:sp>
        <p:nvSpPr>
          <p:cNvPr id="166" name="TextBox 165"/>
          <p:cNvSpPr txBox="1"/>
          <p:nvPr/>
        </p:nvSpPr>
        <p:spPr>
          <a:xfrm>
            <a:off x="8659368" y="3721607"/>
            <a:ext cx="2697480" cy="457200"/>
          </a:xfrm>
          <a:prstGeom prst="rect">
            <a:avLst/>
          </a:prstGeom>
          <a:noFill/>
        </p:spPr>
        <p:txBody>
          <a:bodyPr wrap="square" anchor="ctr" lIns="0" rIns="0" tIns="0" bIns="0"/>
          <a:lstStyle/>
          <a:p>
            <a:pPr algn="l"/>
            <a:r>
              <a:rPr sz="1200" b="0" i="0">
                <a:solidFill>
                  <a:srgbClr val="14142B"/>
                </a:solidFill>
                <a:latin typeface="Calibri"/>
              </a:rPr>
              <a:t>The organisers’ official, judged run</a:t>
            </a:r>
          </a:p>
        </p:txBody>
      </p:sp>
      <p:sp>
        <p:nvSpPr>
          <p:cNvPr id="167" name="Oval 166"/>
          <p:cNvSpPr/>
          <p:nvPr/>
        </p:nvSpPr>
        <p:spPr>
          <a:xfrm>
            <a:off x="8092440" y="434340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8" name="Picture 167" descr="cpu.png"/>
          <p:cNvPicPr>
            <a:picLocks noChangeAspect="1"/>
          </p:cNvPicPr>
          <p:nvPr/>
        </p:nvPicPr>
        <p:blipFill>
          <a:blip r:embed="rId9"/>
          <a:stretch>
            <a:fillRect/>
          </a:stretch>
        </p:blipFill>
        <p:spPr>
          <a:xfrm>
            <a:off x="8183879" y="4434840"/>
            <a:ext cx="274320" cy="274320"/>
          </a:xfrm>
          <a:prstGeom prst="rect">
            <a:avLst/>
          </a:prstGeom>
        </p:spPr>
      </p:pic>
      <p:sp>
        <p:nvSpPr>
          <p:cNvPr id="169" name="TextBox 168"/>
          <p:cNvSpPr txBox="1"/>
          <p:nvPr/>
        </p:nvSpPr>
        <p:spPr>
          <a:xfrm>
            <a:off x="8659368" y="4361688"/>
            <a:ext cx="2697480" cy="457200"/>
          </a:xfrm>
          <a:prstGeom prst="rect">
            <a:avLst/>
          </a:prstGeom>
          <a:noFill/>
        </p:spPr>
        <p:txBody>
          <a:bodyPr wrap="square" anchor="ctr" lIns="0" rIns="0" tIns="0" bIns="0"/>
          <a:lstStyle/>
          <a:p>
            <a:pPr algn="l"/>
            <a:r>
              <a:rPr sz="1200" b="0" i="0">
                <a:solidFill>
                  <a:srgbClr val="14142B"/>
                </a:solidFill>
                <a:latin typeface="Calibri"/>
              </a:rPr>
              <a:t>A full run on local models, on a proper GPU</a:t>
            </a:r>
          </a:p>
        </p:txBody>
      </p:sp>
      <p:sp>
        <p:nvSpPr>
          <p:cNvPr id="170" name="Oval 169"/>
          <p:cNvSpPr/>
          <p:nvPr/>
        </p:nvSpPr>
        <p:spPr>
          <a:xfrm>
            <a:off x="8092440" y="498348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1" name="Picture 170" descr="washing-machine.png"/>
          <p:cNvPicPr>
            <a:picLocks noChangeAspect="1"/>
          </p:cNvPicPr>
          <p:nvPr/>
        </p:nvPicPr>
        <p:blipFill>
          <a:blip r:embed="rId10"/>
          <a:stretch>
            <a:fillRect/>
          </a:stretch>
        </p:blipFill>
        <p:spPr>
          <a:xfrm>
            <a:off x="8183879" y="5074920"/>
            <a:ext cx="274320" cy="274320"/>
          </a:xfrm>
          <a:prstGeom prst="rect">
            <a:avLst/>
          </a:prstGeom>
        </p:spPr>
      </p:pic>
      <p:sp>
        <p:nvSpPr>
          <p:cNvPr id="172" name="TextBox 171"/>
          <p:cNvSpPr txBox="1"/>
          <p:nvPr/>
        </p:nvSpPr>
        <p:spPr>
          <a:xfrm>
            <a:off x="8659368" y="5001768"/>
            <a:ext cx="2697480" cy="457200"/>
          </a:xfrm>
          <a:prstGeom prst="rect">
            <a:avLst/>
          </a:prstGeom>
          <a:noFill/>
        </p:spPr>
        <p:txBody>
          <a:bodyPr wrap="square" anchor="ctr" lIns="0" rIns="0" tIns="0" bIns="0"/>
          <a:lstStyle/>
          <a:p>
            <a:pPr algn="l"/>
            <a:r>
              <a:rPr sz="1200" b="0" i="0">
                <a:solidFill>
                  <a:srgbClr val="14142B"/>
                </a:solidFill>
                <a:latin typeface="Calibri"/>
              </a:rPr>
              <a:t>A real washer and a real camera</a:t>
            </a:r>
          </a:p>
        </p:txBody>
      </p:sp>
      <p:sp>
        <p:nvSpPr>
          <p:cNvPr id="173" name="Oval 172"/>
          <p:cNvSpPr/>
          <p:nvPr/>
        </p:nvSpPr>
        <p:spPr>
          <a:xfrm>
            <a:off x="8092440" y="5623560"/>
            <a:ext cx="457200" cy="457200"/>
          </a:xfrm>
          <a:prstGeom prst="ellipse">
            <a:avLst/>
          </a:prstGeom>
          <a:solidFill>
            <a:srgbClr val="ECE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 name="Picture 173" descr="rocket.png"/>
          <p:cNvPicPr>
            <a:picLocks noChangeAspect="1"/>
          </p:cNvPicPr>
          <p:nvPr/>
        </p:nvPicPr>
        <p:blipFill>
          <a:blip r:embed="rId11"/>
          <a:stretch>
            <a:fillRect/>
          </a:stretch>
        </p:blipFill>
        <p:spPr>
          <a:xfrm>
            <a:off x="8183879" y="5715000"/>
            <a:ext cx="274320" cy="274320"/>
          </a:xfrm>
          <a:prstGeom prst="rect">
            <a:avLst/>
          </a:prstGeom>
        </p:spPr>
      </p:pic>
      <p:sp>
        <p:nvSpPr>
          <p:cNvPr id="175" name="TextBox 174"/>
          <p:cNvSpPr txBox="1"/>
          <p:nvPr/>
        </p:nvSpPr>
        <p:spPr>
          <a:xfrm>
            <a:off x="8659368" y="5641848"/>
            <a:ext cx="2697480" cy="457200"/>
          </a:xfrm>
          <a:prstGeom prst="rect">
            <a:avLst/>
          </a:prstGeom>
          <a:noFill/>
        </p:spPr>
        <p:txBody>
          <a:bodyPr wrap="square" anchor="ctr" lIns="0" rIns="0" tIns="0" bIns="0"/>
          <a:lstStyle/>
          <a:p>
            <a:pPr algn="l"/>
            <a:r>
              <a:rPr sz="1200" b="0" i="0">
                <a:solidFill>
                  <a:srgbClr val="14142B"/>
                </a:solidFill>
                <a:latin typeface="Calibri"/>
              </a:rPr>
              <a:t>The 3–5 minute demo video</a:t>
            </a:r>
          </a:p>
        </p:txBody>
      </p:sp>
      <p:sp>
        <p:nvSpPr>
          <p:cNvPr id="176" name="Rounded Rectangle 175">
            <a:hlinkClick action="ppaction://hlinksldjump" r:id="rId12"/>
          </p:cNvPr>
          <p:cNvSpPr/>
          <p:nvPr/>
        </p:nvSpPr>
        <p:spPr>
          <a:xfrm>
            <a:off x="841248"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Problem</a:t>
            </a:r>
          </a:p>
        </p:txBody>
      </p:sp>
      <p:sp>
        <p:nvSpPr>
          <p:cNvPr id="177" name="Rounded Rectangle 176">
            <a:hlinkClick action="ppaction://hlinksldjump" r:id="rId13"/>
          </p:cNvPr>
          <p:cNvSpPr/>
          <p:nvPr/>
        </p:nvSpPr>
        <p:spPr>
          <a:xfrm>
            <a:off x="2359151"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Gaps</a:t>
            </a:r>
          </a:p>
        </p:txBody>
      </p:sp>
      <p:sp>
        <p:nvSpPr>
          <p:cNvPr id="178" name="Rounded Rectangle 177">
            <a:hlinkClick action="ppaction://hlinksldjump" r:id="rId14"/>
          </p:cNvPr>
          <p:cNvSpPr/>
          <p:nvPr/>
        </p:nvSpPr>
        <p:spPr>
          <a:xfrm>
            <a:off x="3877055"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Solution</a:t>
            </a:r>
          </a:p>
        </p:txBody>
      </p:sp>
      <p:sp>
        <p:nvSpPr>
          <p:cNvPr id="179" name="Rounded Rectangle 178">
            <a:hlinkClick action="ppaction://hlinksldjump" r:id="rId15"/>
          </p:cNvPr>
          <p:cNvSpPr/>
          <p:nvPr/>
        </p:nvSpPr>
        <p:spPr>
          <a:xfrm>
            <a:off x="5394959"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How it works</a:t>
            </a:r>
          </a:p>
        </p:txBody>
      </p:sp>
      <p:sp>
        <p:nvSpPr>
          <p:cNvPr id="182" name="Rounded Rectangle 181">
            <a:hlinkClick action="ppaction://hlinksldjump" r:id="rId18"/>
          </p:cNvPr>
          <p:cNvSpPr/>
          <p:nvPr/>
        </p:nvSpPr>
        <p:spPr>
          <a:xfrm>
            <a:off x="6912863"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Use case</a:t>
            </a:r>
          </a:p>
        </p:txBody>
      </p:sp>
      <p:sp>
        <p:nvSpPr>
          <p:cNvPr id="183" name="Rounded Rectangle 182">
            <a:hlinkClick action="ppaction://hlinksldjump" r:id="rId19"/>
          </p:cNvPr>
          <p:cNvSpPr/>
          <p:nvPr/>
        </p:nvSpPr>
        <p:spPr>
          <a:xfrm>
            <a:off x="8430767" y="6464808"/>
            <a:ext cx="1408175" cy="27432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0" i="0">
                <a:solidFill>
                  <a:srgbClr val="9A9AB0"/>
                </a:solidFill>
                <a:latin typeface="Calibri"/>
              </a:rPr>
              <a:t>Results</a:t>
            </a:r>
          </a:p>
        </p:txBody>
      </p:sp>
      <p:sp>
        <p:nvSpPr>
          <p:cNvPr id="184" name="Rounded Rectangle 183"/>
          <p:cNvSpPr/>
          <p:nvPr/>
        </p:nvSpPr>
        <p:spPr>
          <a:xfrm>
            <a:off x="9948671" y="6464808"/>
            <a:ext cx="1408175" cy="27432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r>
              <a:rPr sz="1050" b="1" i="0">
                <a:solidFill>
                  <a:srgbClr val="FFFFFF"/>
                </a:solidFill>
                <a:latin typeface="Calibri"/>
              </a:rPr>
              <a:t>Next</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2026-09-07T12:01:01Z</dcterms:created>
  <dc:creator>Binny Lakra/PRISM /SRI-Bangalore/Professional/Samsung Electronics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